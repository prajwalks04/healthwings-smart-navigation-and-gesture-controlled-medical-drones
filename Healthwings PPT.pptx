
<file path=[Content_Types].xml><?xml version="1.0" encoding="utf-8"?>
<Types xmlns="http://schemas.openxmlformats.org/package/2006/content-types">
  <Default Extension="bin" ContentType="image/png"/>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dia/image34.bin" ContentType="image/svg+xml"/>
  <Override PartName="/ppt/media/image8.bin" ContentType="image/svg+xml"/>
  <Override PartName="/ppt/media/image10.bin" ContentType="image/svg+xml"/>
  <Override PartName="/ppt/media/image813.bin" ContentType="image/svg+xml"/>
  <Override PartName="/ppt/media/image1013.bin" ContentType="image/svg+xml"/>
  <Override PartName="/ppt/media/image80.bin" ContentType="image/svg+xml"/>
  <Override PartName="/ppt/media/image100.bin" ContentType="image/svg+xml"/>
  <Override PartName="/ppt/media/image30.bin" ContentType="image/svg+xml"/>
  <Override PartName="/ppt/media/image32.bin" ContentType="image/svg+xml"/>
  <Override PartName="/ppt/media/image43.bin" ContentType="image/svg+xml"/>
  <Override PartName="/ppt/media/image81.bin" ContentType="image/svg+xml"/>
  <Override PartName="/ppt/media/image101.bin" ContentType="image/svg+xml"/>
  <Override PartName="/ppt/media/image82.bin" ContentType="image/svg+xml"/>
  <Override PartName="/ppt/media/image102.bin" ContentType="image/svg+xml"/>
  <Override PartName="/ppt/media/image83.bin" ContentType="image/svg+xml"/>
  <Override PartName="/ppt/media/image103.bin" ContentType="image/svg+xml"/>
  <Override PartName="/ppt/media/image84.bin" ContentType="image/svg+xml"/>
  <Override PartName="/ppt/media/image104.bin" ContentType="image/svg+xml"/>
  <Override PartName="/ppt/media/image85.bin" ContentType="image/svg+xml"/>
  <Override PartName="/ppt/media/image105.bin" ContentType="image/svg+xml"/>
  <Override PartName="/ppt/media/image161.bin" ContentType="image/svg+xml"/>
  <Override PartName="/ppt/media/image165.bin" ContentType="image/sv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sldIdLst>
    <p:sldId id="301" r:id="rId2"/>
    <p:sldId id="838" r:id="rId3"/>
    <p:sldId id="314" r:id="rId4"/>
    <p:sldId id="824" r:id="rId5"/>
    <p:sldId id="381" r:id="rId6"/>
    <p:sldId id="454" r:id="rId7"/>
    <p:sldId id="825" r:id="rId8"/>
    <p:sldId id="826" r:id="rId9"/>
    <p:sldId id="827" r:id="rId10"/>
    <p:sldId id="828" r:id="rId11"/>
    <p:sldId id="829" r:id="rId12"/>
    <p:sldId id="823" r:id="rId13"/>
  </p:sldIdLst>
  <p:sldSz cx="18288000" cy="10287000"/>
  <p:notesSz cx="18288000" cy="10287000"/>
  <p:embeddedFontLst>
    <p:embeddedFont>
      <p:font typeface="IBM Plex Serif SemiBold" panose="02060703050406000203" pitchFamily="18" charset="0"/>
      <p:regular r:id="rId14"/>
      <p:bold r:id="rId15"/>
      <p:boldItalic r:id="rId16"/>
    </p:embeddedFont>
    <p:embeddedFont>
      <p:font typeface="Noto Serif SemiBold" panose="020B0604020202020204" charset="0"/>
      <p:regular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907CCC-2DFD-4658-A71F-8928CAC3F988}" v="1" dt="2025-03-27T03:51:20.1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42" d="100"/>
          <a:sy n="42" d="100"/>
        </p:scale>
        <p:origin x="7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 Shettar" userId="42fca101d5719c52" providerId="LiveId" clId="{B8907CCC-2DFD-4658-A71F-8928CAC3F988}"/>
    <pc:docChg chg="undo custSel modSld">
      <pc:chgData name="Tejas Shettar" userId="42fca101d5719c52" providerId="LiveId" clId="{B8907CCC-2DFD-4658-A71F-8928CAC3F988}" dt="2025-03-27T03:52:03.888" v="25" actId="5793"/>
      <pc:docMkLst>
        <pc:docMk/>
      </pc:docMkLst>
      <pc:sldChg chg="modSp mod">
        <pc:chgData name="Tejas Shettar" userId="42fca101d5719c52" providerId="LiveId" clId="{B8907CCC-2DFD-4658-A71F-8928CAC3F988}" dt="2025-03-27T03:52:03.888" v="25" actId="5793"/>
        <pc:sldMkLst>
          <pc:docMk/>
          <pc:sldMk cId="3799582060" sldId="829"/>
        </pc:sldMkLst>
        <pc:spChg chg="mod">
          <ac:chgData name="Tejas Shettar" userId="42fca101d5719c52" providerId="LiveId" clId="{B8907CCC-2DFD-4658-A71F-8928CAC3F988}" dt="2025-03-27T03:52:03.888" v="25" actId="5793"/>
          <ac:spMkLst>
            <pc:docMk/>
            <pc:sldMk cId="3799582060" sldId="829"/>
            <ac:spMk id="2" creationId="{296C28C4-10F1-E171-2ED2-9C62D2F663D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53475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138595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B8CEAE-9ACF-4870-96B2-2FDD755B4008}"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88955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B8CEAE-9ACF-4870-96B2-2FDD755B4008}"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63965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B8CEAE-9ACF-4870-96B2-2FDD755B4008}" type="datetimeFigureOut">
              <a:rPr lang="en-IN" smtClean="0"/>
              <a:t>27-03-2025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81391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B8CEAE-9ACF-4870-96B2-2FDD755B4008}" type="datetimeFigureOut">
              <a:rPr lang="en-IN" smtClean="0"/>
              <a:t>27-03-2025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320817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8CEAE-9ACF-4870-96B2-2FDD755B4008}" type="datetimeFigureOut">
              <a:rPr lang="en-IN" smtClean="0"/>
              <a:t>27-03-2025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0675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470941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6888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333150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4276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8CEAE-9ACF-4870-96B2-2FDD755B4008}" type="datetimeFigureOut">
              <a:rPr lang="en-IN" smtClean="0"/>
              <a:t>27-03-2025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4AC96-115D-4CF4-9B0B-0F2A89887B52}" type="slidenum">
              <a:rPr lang="en-IN" smtClean="0"/>
              <a:t>‹#›</a:t>
            </a:fld>
            <a:endParaRPr lang="en-IN"/>
          </a:p>
        </p:txBody>
      </p:sp>
    </p:spTree>
    <p:extLst>
      <p:ext uri="{BB962C8B-B14F-4D97-AF65-F5344CB8AC3E}">
        <p14:creationId xmlns:p14="http://schemas.microsoft.com/office/powerpoint/2010/main" val="37780842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34.bin"/><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Layout" Target="../slideLayouts/slideLayout7.xml"/><Relationship Id="rId4" Type="http://schemas.openxmlformats.org/officeDocument/2006/relationships/image" Target="../media/image3.bin"/><Relationship Id="rId1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bin"/></Relationships>
</file>

<file path=ppt/slides/_rels/slide3.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13.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13.bin"/></Relationships>
</file>

<file path=ppt/slides/_rels/slide4.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0.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0.bin"/></Relationships>
</file>

<file path=ppt/slides/_rels/slide5.xml.rels><?xml version="1.0" encoding="UTF-8" standalone="yes"?>
<Relationships xmlns="http://schemas.openxmlformats.org/package/2006/relationships"><Relationship Id="rId72" Type="http://schemas.openxmlformats.org/officeDocument/2006/relationships/image" Target="../media/image12.bin"/><Relationship Id="rId3" Type="http://schemas.openxmlformats.org/officeDocument/2006/relationships/image" Target="../media/image5.bin"/><Relationship Id="rId68" Type="http://schemas.openxmlformats.org/officeDocument/2006/relationships/image" Target="../media/image30.bin"/><Relationship Id="rId71" Type="http://schemas.openxmlformats.org/officeDocument/2006/relationships/image" Target="../media/image32.bin"/><Relationship Id="rId2" Type="http://schemas.openxmlformats.org/officeDocument/2006/relationships/image" Target="../media/image1.bin"/><Relationship Id="rId1" Type="http://schemas.openxmlformats.org/officeDocument/2006/relationships/slideLayout" Target="../slideLayouts/slideLayout7.xml"/><Relationship Id="rId74" Type="http://schemas.openxmlformats.org/officeDocument/2006/relationships/image" Target="../media/image14.bin"/><Relationship Id="rId5" Type="http://schemas.openxmlformats.org/officeDocument/2006/relationships/image" Target="../media/image7.bin"/><Relationship Id="rId73" Type="http://schemas.openxmlformats.org/officeDocument/2006/relationships/image" Target="../media/image13.bin"/><Relationship Id="rId4" Type="http://schemas.openxmlformats.org/officeDocument/2006/relationships/image" Target="../media/image6.bin"/><Relationship Id="rId69" Type="http://schemas.openxmlformats.org/officeDocument/2006/relationships/image" Target="../media/image9.bin"/></Relationships>
</file>

<file path=ppt/slides/_rels/slide6.xml.rels><?xml version="1.0" encoding="UTF-8" standalone="yes"?>
<Relationships xmlns="http://schemas.openxmlformats.org/package/2006/relationships"><Relationship Id="rId3" Type="http://schemas.openxmlformats.org/officeDocument/2006/relationships/image" Target="../media/image15.bin"/><Relationship Id="rId97" Type="http://schemas.openxmlformats.org/officeDocument/2006/relationships/image" Target="../media/image19.bin"/><Relationship Id="rId2" Type="http://schemas.openxmlformats.org/officeDocument/2006/relationships/image" Target="../media/image1.bin"/><Relationship Id="rId96" Type="http://schemas.openxmlformats.org/officeDocument/2006/relationships/image" Target="../media/image18.bin"/><Relationship Id="rId1" Type="http://schemas.openxmlformats.org/officeDocument/2006/relationships/slideLayout" Target="../slideLayouts/slideLayout7.xml"/><Relationship Id="rId95" Type="http://schemas.openxmlformats.org/officeDocument/2006/relationships/image" Target="../media/image17.bin"/><Relationship Id="rId94" Type="http://schemas.openxmlformats.org/officeDocument/2006/relationships/image" Target="../media/image43.bin"/><Relationship Id="rId4" Type="http://schemas.openxmlformats.org/officeDocument/2006/relationships/image" Target="../media/image16.bin"/></Relationships>
</file>

<file path=ppt/slides/_rels/slide7.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1.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1.bin"/></Relationships>
</file>

<file path=ppt/slides/_rels/slide8.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2.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2.bin"/></Relationships>
</file>

<file path=ppt/slides/_rels/slide9.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3.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3.bin"/></Relationships>
</file>

<file path=ppt/slides/_rels/slide10.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4.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4.bin"/></Relationships>
</file>

<file path=ppt/slides/_rels/slide11.xml.rels><?xml version="1.0" encoding="UTF-8" standalone="yes"?>
<Relationships xmlns="http://schemas.openxmlformats.org/package/2006/relationships"><Relationship Id="rId3" Type="http://schemas.openxmlformats.org/officeDocument/2006/relationships/image" Target="../media/image6.bin"/><Relationship Id="rId25" Type="http://schemas.openxmlformats.org/officeDocument/2006/relationships/image" Target="../media/image9.bin"/><Relationship Id="rId2" Type="http://schemas.openxmlformats.org/officeDocument/2006/relationships/image" Target="../media/image5.bin"/><Relationship Id="rId1" Type="http://schemas.openxmlformats.org/officeDocument/2006/relationships/slideLayout" Target="../slideLayouts/slideLayout7.xml"/><Relationship Id="rId24" Type="http://schemas.openxmlformats.org/officeDocument/2006/relationships/image" Target="../media/image85.bin"/><Relationship Id="rId28" Type="http://schemas.openxmlformats.org/officeDocument/2006/relationships/image" Target="../media/image11.bin"/><Relationship Id="rId4" Type="http://schemas.openxmlformats.org/officeDocument/2006/relationships/image" Target="../media/image7.bin"/><Relationship Id="rId27" Type="http://schemas.openxmlformats.org/officeDocument/2006/relationships/image" Target="../media/image105.bin"/></Relationships>
</file>

<file path=ppt/slides/_rels/slide12.xml.rels><?xml version="1.0" encoding="UTF-8" standalone="yes"?>
<Relationships xmlns="http://schemas.openxmlformats.org/package/2006/relationships"><Relationship Id="rId3" Type="http://schemas.openxmlformats.org/officeDocument/2006/relationships/image" Target="../media/image20.bin"/><Relationship Id="rId324" Type="http://schemas.openxmlformats.org/officeDocument/2006/relationships/image" Target="../media/image161.bin"/><Relationship Id="rId2" Type="http://schemas.openxmlformats.org/officeDocument/2006/relationships/image" Target="../media/image1.bin"/><Relationship Id="rId331" Type="http://schemas.openxmlformats.org/officeDocument/2006/relationships/image" Target="../media/image165.bin"/><Relationship Id="rId1" Type="http://schemas.openxmlformats.org/officeDocument/2006/relationships/slideLayout" Target="../slideLayouts/slideLayout7.xml"/><Relationship Id="rId326" Type="http://schemas.openxmlformats.org/officeDocument/2006/relationships/image" Target="../media/image23.bin"/><Relationship Id="rId4" Type="http://schemas.openxmlformats.org/officeDocument/2006/relationships/image" Target="../media/image21.bin"/><Relationship Id="rId325" Type="http://schemas.openxmlformats.org/officeDocument/2006/relationships/image" Target="../media/image2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05" name="layoutShapeInnerChild6">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E11DE8FF-98C6-4FE3-9008-58D275F4E5F6}">
                <asvg:svgBlip xmlns:asvg="http://schemas.microsoft.com/office/drawing/2016/SVG/main" xmlns:p14="http://schemas.microsoft.com/office/powerpoint/2010/main" xmlns:a14="http://schemas.microsoft.com/office/drawing/2010/main" xmlns:a16="http://schemas.microsoft.com/office/drawing/2014/main" xmlns="" r:embed="rId13"/>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9692730" y="643588"/>
            <a:ext cx="8595270" cy="10184159"/>
          </a:xfrm>
          <a:prstGeom prst="rect">
            <a:avLst/>
          </a:prstGeom>
        </p:spPr>
      </p:pic>
      <p:sp>
        <p:nvSpPr>
          <p:cNvPr id="19" name="object 6">
            <a:extLst>
              <a:ext uri="{FF2B5EF4-FFF2-40B4-BE49-F238E27FC236}">
                <a16:creationId xmlns:a16="http://schemas.microsoft.com/office/drawing/2014/main" id="{AB9B9162-4B2C-3181-33DA-CBC277B41B92}"/>
              </a:ext>
            </a:extLst>
          </p:cNvPr>
          <p:cNvSpPr txBox="1"/>
          <p:nvPr/>
        </p:nvSpPr>
        <p:spPr>
          <a:xfrm>
            <a:off x="630010" y="7589103"/>
            <a:ext cx="9062720" cy="998350"/>
          </a:xfrm>
          <a:prstGeom prst="rect">
            <a:avLst/>
          </a:prstGeom>
        </p:spPr>
        <p:txBody>
          <a:bodyPr vert="horz" wrap="square" lIns="0" tIns="15875" rIns="0" bIns="0" rtlCol="0">
            <a:spAutoFit/>
          </a:bodyPr>
          <a:lstStyle/>
          <a:p>
            <a:pPr marL="12700">
              <a:lnSpc>
                <a:spcPct val="100000"/>
              </a:lnSpc>
              <a:spcBef>
                <a:spcPts val="125"/>
              </a:spcBef>
            </a:pPr>
            <a:r>
              <a:rPr sz="2400" dirty="0">
                <a:latin typeface="Times New Roman"/>
                <a:cs typeface="Times New Roman"/>
              </a:rPr>
              <a:t>Presented</a:t>
            </a:r>
            <a:r>
              <a:rPr sz="2400" spc="-50" dirty="0">
                <a:latin typeface="Times New Roman"/>
                <a:cs typeface="Times New Roman"/>
              </a:rPr>
              <a:t> </a:t>
            </a:r>
            <a:r>
              <a:rPr sz="2400" dirty="0">
                <a:latin typeface="Times New Roman"/>
                <a:cs typeface="Times New Roman"/>
              </a:rPr>
              <a:t>by</a:t>
            </a:r>
            <a:r>
              <a:rPr sz="2400" spc="-30" dirty="0">
                <a:latin typeface="Times New Roman"/>
                <a:cs typeface="Times New Roman"/>
              </a:rPr>
              <a:t> </a:t>
            </a:r>
            <a:r>
              <a:rPr sz="2400" dirty="0">
                <a:latin typeface="Times New Roman"/>
                <a:cs typeface="Times New Roman"/>
              </a:rPr>
              <a:t>:</a:t>
            </a:r>
            <a:r>
              <a:rPr sz="2400" spc="-160" dirty="0">
                <a:latin typeface="Times New Roman"/>
                <a:cs typeface="Times New Roman"/>
              </a:rPr>
              <a:t> </a:t>
            </a:r>
            <a:r>
              <a:rPr lang="en-US" sz="2400" spc="-160" dirty="0">
                <a:latin typeface="Times New Roman"/>
                <a:cs typeface="Times New Roman"/>
              </a:rPr>
              <a:t>Tejas Shettar, Prajwal K S, Chiranjeevi Hemanth S T,  </a:t>
            </a:r>
            <a:r>
              <a:rPr lang="en-US" sz="2400" spc="-160" dirty="0" err="1">
                <a:latin typeface="Times New Roman"/>
                <a:cs typeface="Times New Roman"/>
              </a:rPr>
              <a:t>Amarappa</a:t>
            </a:r>
            <a:r>
              <a:rPr lang="en-US" sz="2400" spc="-160" dirty="0">
                <a:latin typeface="Times New Roman"/>
                <a:cs typeface="Times New Roman"/>
              </a:rPr>
              <a:t> I</a:t>
            </a:r>
            <a:endParaRPr lang="en-US" sz="2400" dirty="0">
              <a:latin typeface="Times New Roman"/>
              <a:cs typeface="Times New Roman"/>
            </a:endParaRPr>
          </a:p>
          <a:p>
            <a:pPr marL="20955">
              <a:lnSpc>
                <a:spcPct val="100000"/>
              </a:lnSpc>
              <a:spcBef>
                <a:spcPts val="1905"/>
              </a:spcBef>
            </a:pPr>
            <a:r>
              <a:rPr sz="2400" dirty="0">
                <a:latin typeface="Times New Roman"/>
                <a:cs typeface="Times New Roman"/>
              </a:rPr>
              <a:t>GUIDE</a:t>
            </a:r>
            <a:r>
              <a:rPr lang="en-US" sz="2400" dirty="0">
                <a:latin typeface="Times New Roman"/>
                <a:cs typeface="Times New Roman"/>
              </a:rPr>
              <a:t> </a:t>
            </a:r>
            <a:r>
              <a:rPr sz="2400" dirty="0">
                <a:latin typeface="Times New Roman"/>
                <a:cs typeface="Times New Roman"/>
              </a:rPr>
              <a:t>:</a:t>
            </a:r>
            <a:r>
              <a:rPr sz="2400" spc="85" dirty="0">
                <a:latin typeface="Times New Roman"/>
                <a:cs typeface="Times New Roman"/>
              </a:rPr>
              <a:t> </a:t>
            </a:r>
            <a:r>
              <a:rPr lang="en-US" sz="2400" dirty="0">
                <a:latin typeface="Times New Roman"/>
                <a:cs typeface="Times New Roman"/>
              </a:rPr>
              <a:t>Mrs. Prathima Mahapurush</a:t>
            </a:r>
            <a:endParaRPr sz="2400" dirty="0">
              <a:latin typeface="Times New Roman"/>
              <a:cs typeface="Times New Roman"/>
            </a:endParaRPr>
          </a:p>
        </p:txBody>
      </p:sp>
      <p:sp>
        <p:nvSpPr>
          <p:cNvPr id="20" name="object 7">
            <a:extLst>
              <a:ext uri="{FF2B5EF4-FFF2-40B4-BE49-F238E27FC236}">
                <a16:creationId xmlns:a16="http://schemas.microsoft.com/office/drawing/2014/main" id="{F0557018-73DA-C4A4-AD3A-44EEC1817C27}"/>
              </a:ext>
            </a:extLst>
          </p:cNvPr>
          <p:cNvSpPr txBox="1">
            <a:spLocks/>
          </p:cNvSpPr>
          <p:nvPr/>
        </p:nvSpPr>
        <p:spPr>
          <a:xfrm>
            <a:off x="2322475" y="250761"/>
            <a:ext cx="15312382" cy="1791773"/>
          </a:xfrm>
          <a:prstGeom prst="rect">
            <a:avLst/>
          </a:prstGeom>
        </p:spPr>
        <p:txBody>
          <a:bodyPr vert="horz" wrap="square" lIns="0" tIns="42995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15290" marR="5080">
              <a:lnSpc>
                <a:spcPct val="102400"/>
              </a:lnSpc>
              <a:spcBef>
                <a:spcPts val="50"/>
              </a:spcBef>
            </a:pPr>
            <a:r>
              <a:rPr lang="en-US" dirty="0">
                <a:latin typeface="Times New Roman" panose="02020603050405020304" pitchFamily="18" charset="0"/>
                <a:cs typeface="Times New Roman" panose="02020603050405020304" pitchFamily="18" charset="0"/>
              </a:rPr>
              <a:t>Smt.</a:t>
            </a:r>
            <a:r>
              <a:rPr lang="en-US" spc="8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Kamala</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1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Sri</a:t>
            </a:r>
            <a:r>
              <a:rPr lang="en-US" spc="3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Venkappa</a:t>
            </a:r>
            <a:r>
              <a:rPr lang="en-US" spc="8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t>
            </a:r>
            <a:r>
              <a:rPr lang="en-US" spc="-8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Agadi</a:t>
            </a:r>
            <a:r>
              <a:rPr lang="en-US" spc="9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College</a:t>
            </a:r>
            <a:r>
              <a:rPr lang="en-US" spc="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a:t>
            </a:r>
            <a:r>
              <a:rPr lang="en-US" spc="9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Engineering </a:t>
            </a:r>
            <a:r>
              <a:rPr lang="en-US" dirty="0">
                <a:latin typeface="Times New Roman" panose="02020603050405020304" pitchFamily="18" charset="0"/>
                <a:cs typeface="Times New Roman" panose="02020603050405020304" pitchFamily="18" charset="0"/>
              </a:rPr>
              <a:t>&amp;</a:t>
            </a:r>
            <a:r>
              <a:rPr lang="en-US" spc="1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Technology</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Lakshmeshwar</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spc="40"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582116</a:t>
            </a:r>
          </a:p>
        </p:txBody>
      </p:sp>
      <p:sp>
        <p:nvSpPr>
          <p:cNvPr id="21" name="object 8">
            <a:extLst>
              <a:ext uri="{FF2B5EF4-FFF2-40B4-BE49-F238E27FC236}">
                <a16:creationId xmlns:a16="http://schemas.microsoft.com/office/drawing/2014/main" id="{411ED82F-761B-74AF-2952-ED05A518A738}"/>
              </a:ext>
            </a:extLst>
          </p:cNvPr>
          <p:cNvSpPr txBox="1"/>
          <p:nvPr/>
        </p:nvSpPr>
        <p:spPr>
          <a:xfrm>
            <a:off x="-407307" y="2432322"/>
            <a:ext cx="15132432" cy="3081613"/>
          </a:xfrm>
          <a:prstGeom prst="rect">
            <a:avLst/>
          </a:prstGeom>
        </p:spPr>
        <p:txBody>
          <a:bodyPr vert="horz" wrap="square" lIns="0" tIns="16510" rIns="0" bIns="0" rtlCol="0">
            <a:spAutoFit/>
          </a:bodyPr>
          <a:lstStyle/>
          <a:p>
            <a:pPr marL="350520" algn="ctr">
              <a:lnSpc>
                <a:spcPct val="100000"/>
              </a:lnSpc>
              <a:spcBef>
                <a:spcPts val="130"/>
              </a:spcBef>
            </a:pPr>
            <a:r>
              <a:rPr lang="en-US" sz="3600" spc="95" dirty="0">
                <a:latin typeface="Times New Roman" panose="02020603050405020304" pitchFamily="18" charset="0"/>
                <a:cs typeface="Times New Roman" panose="02020603050405020304" pitchFamily="18" charset="0"/>
              </a:rPr>
              <a:t>Information</a:t>
            </a:r>
            <a:r>
              <a:rPr sz="3600" spc="9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Science</a:t>
            </a:r>
            <a:r>
              <a:rPr sz="3600" spc="9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and</a:t>
            </a:r>
            <a:r>
              <a:rPr sz="3600" spc="9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Engineering</a:t>
            </a:r>
            <a:endParaRPr sz="3600" dirty="0">
              <a:latin typeface="Times New Roman" panose="02020603050405020304" pitchFamily="18" charset="0"/>
              <a:cs typeface="Times New Roman" panose="02020603050405020304" pitchFamily="18" charset="0"/>
            </a:endParaRPr>
          </a:p>
          <a:p>
            <a:pPr>
              <a:lnSpc>
                <a:spcPct val="100000"/>
              </a:lnSpc>
              <a:spcBef>
                <a:spcPts val="2295"/>
              </a:spcBef>
            </a:pPr>
            <a:endParaRPr sz="3600" dirty="0">
              <a:latin typeface="Times New Roman" panose="02020603050405020304" pitchFamily="18" charset="0"/>
              <a:cs typeface="Times New Roman" panose="02020603050405020304" pitchFamily="18" charset="0"/>
            </a:endParaRPr>
          </a:p>
          <a:p>
            <a:pPr marL="12700" marR="5080" algn="ctr">
              <a:tabLst>
                <a:tab pos="2402840" algn="l"/>
                <a:tab pos="2441575" algn="l"/>
                <a:tab pos="5688965" algn="l"/>
              </a:tabLst>
            </a:pPr>
            <a:r>
              <a:rPr lang="en-US" sz="5400" dirty="0">
                <a:latin typeface="Times New Roman" panose="02020603050405020304" pitchFamily="18" charset="0"/>
                <a:cs typeface="Times New Roman" panose="02020603050405020304" pitchFamily="18" charset="0"/>
              </a:rPr>
              <a:t>“</a:t>
            </a:r>
            <a:r>
              <a:rPr lang="en-US" sz="4500" dirty="0">
                <a:latin typeface="Times New Roman" panose="02020603050405020304" pitchFamily="18" charset="0"/>
                <a:cs typeface="Times New Roman" panose="02020603050405020304" pitchFamily="18" charset="0"/>
              </a:rPr>
              <a:t>HealthWings: Smart Navigation and Gesture-Controlled</a:t>
            </a:r>
          </a:p>
          <a:p>
            <a:pPr marL="12700" marR="5080" algn="ctr">
              <a:tabLst>
                <a:tab pos="2402840" algn="l"/>
                <a:tab pos="2441575" algn="l"/>
                <a:tab pos="5688965" algn="l"/>
              </a:tabLst>
            </a:pPr>
            <a:r>
              <a:rPr lang="en-US" sz="4500" dirty="0">
                <a:latin typeface="Times New Roman" panose="02020603050405020304" pitchFamily="18" charset="0"/>
                <a:cs typeface="Times New Roman" panose="02020603050405020304" pitchFamily="18" charset="0"/>
              </a:rPr>
              <a:t> Medical Drones</a:t>
            </a:r>
            <a:r>
              <a:rPr lang="en-US" sz="5400" dirty="0">
                <a:latin typeface="Times New Roman" panose="02020603050405020304" pitchFamily="18" charset="0"/>
                <a:cs typeface="Times New Roman" panose="02020603050405020304" pitchFamily="18" charset="0"/>
              </a:rPr>
              <a:t>”</a:t>
            </a:r>
            <a:endParaRPr sz="5400" dirty="0">
              <a:latin typeface="Times New Roman" panose="02020603050405020304" pitchFamily="18" charset="0"/>
              <a:cs typeface="Times New Roman" panose="02020603050405020304" pitchFamily="18" charset="0"/>
            </a:endParaRPr>
          </a:p>
        </p:txBody>
      </p:sp>
      <p:pic>
        <p:nvPicPr>
          <p:cNvPr id="5122" name="Picture 2" descr="SKSVMACET LAKSHMESHWAR - YouTube">
            <a:extLst>
              <a:ext uri="{FF2B5EF4-FFF2-40B4-BE49-F238E27FC236}">
                <a16:creationId xmlns:a16="http://schemas.microsoft.com/office/drawing/2014/main" id="{E8C517D6-E5D7-8630-7520-15D41E247B7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0893" y="479879"/>
            <a:ext cx="2007507" cy="2007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1200"/>
                                        <p:tgtEl>
                                          <p:spTgt spid="303"/>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03"/>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05"/>
                                        </p:tgtEl>
                                        <p:attrNameLst>
                                          <p:attrName>style.visibility</p:attrName>
                                        </p:attrNameLst>
                                      </p:cBhvr>
                                      <p:to>
                                        <p:strVal val="visible"/>
                                      </p:to>
                                    </p:set>
                                    <p:animEffect transition="in" filter="fade">
                                      <p:cBhvr>
                                        <p:cTn id="12" dur="1200"/>
                                        <p:tgtEl>
                                          <p:spTgt spid="305"/>
                                        </p:tgtEl>
                                      </p:cBhvr>
                                    </p:animEffect>
                                  </p:childTnLst>
                                </p:cTn>
                              </p:par>
                              <p:par>
                                <p:cTn id="13" presetID="64" presetClass="path" presetSubtype="0" accel="50000" decel="50000" fill="hold" nodeType="withEffect">
                                  <p:stCondLst>
                                    <p:cond delay="0"/>
                                  </p:stCondLst>
                                  <p:childTnLst>
                                    <p:animMotion origin="layout" path="M -3.1789145E-07 0.07407118 L -3.1789145E-07 -2.8936952E-06 E" pathEditMode="relative" ptsTypes="">
                                      <p:cBhvr>
                                        <p:cTn id="14" dur="1200" fill="hold"/>
                                        <p:tgtEl>
                                          <p:spTgt spid="30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FABEE-E340-100E-0C83-FA1D9C3EF048}"/>
            </a:ext>
          </a:extLst>
        </p:cNvPr>
        <p:cNvGrpSpPr/>
        <p:nvPr/>
      </p:nvGrpSpPr>
      <p:grpSpPr>
        <a:xfrm>
          <a:off x="0" y="0"/>
          <a:ext cx="0" cy="0"/>
          <a:chOff x="0" y="0"/>
          <a:chExt cx="0" cy="0"/>
        </a:xfrm>
      </p:grpSpPr>
      <p:pic>
        <p:nvPicPr>
          <p:cNvPr id="316" name="Rect">
            <a:extLst>
              <a:ext uri="{FF2B5EF4-FFF2-40B4-BE49-F238E27FC236}">
                <a16:creationId xmlns:a16="http://schemas.microsoft.com/office/drawing/2014/main" id="{D85388AA-960C-8E7A-340D-8DAF9D2B12F4}"/>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5D11AE36-5C5A-8648-BE30-FE0E3D0EEFCD}"/>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CB835D82-746A-479E-CFE8-57705711330E}"/>
              </a:ext>
            </a:extLst>
          </p:cNvPr>
          <p:cNvPicPr>
            <a:picLocks noChangeAspect="1"/>
          </p:cNvPicPr>
          <p:nvPr/>
        </p:nvPicPr>
        <p:blipFill rotWithShape="1">
          <a:blip r:embed="rId4">
            <a:alphaModFix/>
            <a:extLst>
              <a:ext uri="{D447D3F8-93D1-453B-83F5-75E1A01F88BF}">
                <asvg:svgBlip xmlns="" xmlns:a16="http://schemas.microsoft.com/office/drawing/2014/main" xmlns:a14="http://schemas.microsoft.com/office/drawing/2010/main" xmlns:p14="http://schemas.microsoft.com/office/powerpoint/2010/main" xmlns:asvg="http://schemas.microsoft.com/office/drawing/2016/SVG/main" r:embed="rId2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CD350F1E-7CC3-C47F-CB40-0ED7FE4DDAED}"/>
              </a:ext>
            </a:extLst>
          </p:cNvPr>
          <p:cNvPicPr>
            <a:picLocks noChangeAspect="1"/>
          </p:cNvPicPr>
          <p:nvPr/>
        </p:nvPicPr>
        <p:blipFill rotWithShape="1">
          <a:blip r:embed="rId25">
            <a:alphaModFix/>
            <a:extLst>
              <a:ext uri="{2D28C7F6-BB24-4A95-BEB7-42B481537082}">
                <asvg:svgBlip xmlns="" xmlns:a16="http://schemas.microsoft.com/office/drawing/2014/main" xmlns:a14="http://schemas.microsoft.com/office/drawing/2010/main" xmlns:p14="http://schemas.microsoft.com/office/powerpoint/2010/main" xmlns:asvg="http://schemas.microsoft.com/office/drawing/2016/SVG/main" r:embed="rI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E6207416-9514-1F4E-B143-A90A49CB3256}"/>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0DCC84D5-1C01-AAFE-863D-B5EED24A6150}"/>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9DE5C0DD-15BB-A246-7740-E03D91281378}"/>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C81E51FB-F6A5-4FFC-BF37-86B6E2F43419}"/>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677BA7C3-1D5A-9250-7058-027FF40EB3D1}"/>
              </a:ext>
            </a:extLst>
          </p:cNvPr>
          <p:cNvSpPr txBox="1"/>
          <p:nvPr/>
        </p:nvSpPr>
        <p:spPr>
          <a:xfrm>
            <a:off x="1409700" y="993172"/>
            <a:ext cx="15516225" cy="679673"/>
          </a:xfrm>
          <a:prstGeom prst="rect">
            <a:avLst/>
          </a:prstGeom>
          <a:noFill/>
        </p:spPr>
        <p:txBody>
          <a:bodyPr vertOverflow="clip" horzOverflow="clip" wrap="square" lIns="0" tIns="0" rIns="0" bIns="0" rtlCol="0" anchor="t">
            <a:spAutoFit/>
          </a:bodyPr>
          <a:lstStyle/>
          <a:p>
            <a:pPr algn="ctr">
              <a:lnSpc>
                <a:spcPts val="5292"/>
              </a:lnSpc>
            </a:pPr>
            <a:r>
              <a:rPr lang="en-US" sz="4800" spc="-84" dirty="0">
                <a:solidFill>
                  <a:srgbClr val="181C24">
                    <a:alpha val="100000"/>
                  </a:srgbClr>
                </a:solidFill>
                <a:latin typeface="IBM Plex Serif SemiBold" panose="00000700000000000000" pitchFamily="2" charset="0"/>
              </a:rPr>
              <a:t>CONTENTS</a:t>
            </a:r>
            <a:endParaRPr lang="en-US" sz="4400" spc="-84" dirty="0">
              <a:solidFill>
                <a:srgbClr val="181C24">
                  <a:alpha val="100000"/>
                </a:srgbClr>
              </a:solidFill>
              <a:latin typeface="IBM Plex Serif SemiBold" panose="00000700000000000000" pitchFamily="2" charset="0"/>
            </a:endParaRPr>
          </a:p>
        </p:txBody>
      </p:sp>
      <p:sp>
        <p:nvSpPr>
          <p:cNvPr id="2" name="TextBox 1">
            <a:extLst>
              <a:ext uri="{FF2B5EF4-FFF2-40B4-BE49-F238E27FC236}">
                <a16:creationId xmlns:a16="http://schemas.microsoft.com/office/drawing/2014/main" id="{6318122E-3C41-C190-496B-395751456D23}"/>
              </a:ext>
            </a:extLst>
          </p:cNvPr>
          <p:cNvSpPr txBox="1"/>
          <p:nvPr/>
        </p:nvSpPr>
        <p:spPr>
          <a:xfrm>
            <a:off x="2881312" y="2282957"/>
            <a:ext cx="11727543" cy="4524315"/>
          </a:xfrm>
          <a:prstGeom prst="rect">
            <a:avLst/>
          </a:prstGeom>
          <a:noFill/>
        </p:spPr>
        <p:txBody>
          <a:bodyPr wrap="square" rtlCol="0">
            <a:spAutoFit/>
          </a:bodyPr>
          <a:lstStyle/>
          <a:p>
            <a:pPr marL="623888" indent="-623888">
              <a:buFont typeface="+mj-lt"/>
              <a:buAutoNum type="arabicPeriod"/>
            </a:pPr>
            <a:r>
              <a:rPr lang="en-US" sz="3200" dirty="0">
                <a:latin typeface="Times New Roman" panose="02020603050405020304" pitchFamily="18" charset="0"/>
                <a:cs typeface="Times New Roman" panose="02020603050405020304" pitchFamily="18" charset="0"/>
              </a:rPr>
              <a:t>Introduction</a:t>
            </a:r>
          </a:p>
          <a:p>
            <a:pPr marL="623888" indent="-623888">
              <a:buFont typeface="+mj-lt"/>
              <a:buAutoNum type="arabicPeriod"/>
            </a:pPr>
            <a:r>
              <a:rPr lang="en-US" sz="3200" dirty="0">
                <a:latin typeface="Times New Roman" panose="02020603050405020304" pitchFamily="18" charset="0"/>
                <a:cs typeface="Times New Roman" panose="02020603050405020304" pitchFamily="18" charset="0"/>
              </a:rPr>
              <a:t>Problem Statement</a:t>
            </a:r>
          </a:p>
          <a:p>
            <a:pPr marL="623888" indent="-623888">
              <a:buFont typeface="+mj-lt"/>
              <a:buAutoNum type="arabicPeriod"/>
            </a:pPr>
            <a:r>
              <a:rPr lang="en-US" sz="3200" dirty="0">
                <a:latin typeface="Times New Roman" panose="02020603050405020304" pitchFamily="18" charset="0"/>
                <a:cs typeface="Times New Roman" panose="02020603050405020304" pitchFamily="18" charset="0"/>
              </a:rPr>
              <a:t>Objectives</a:t>
            </a:r>
          </a:p>
          <a:p>
            <a:pPr marL="623888" indent="-623888">
              <a:buFont typeface="+mj-lt"/>
              <a:buAutoNum type="arabicPeriod"/>
            </a:pPr>
            <a:r>
              <a:rPr lang="en-US" sz="3200" dirty="0">
                <a:latin typeface="Times New Roman" panose="02020603050405020304" pitchFamily="18" charset="0"/>
                <a:cs typeface="Times New Roman" panose="02020603050405020304" pitchFamily="18" charset="0"/>
              </a:rPr>
              <a:t>Proposed System</a:t>
            </a:r>
          </a:p>
          <a:p>
            <a:pPr marL="623888" indent="-623888">
              <a:buFont typeface="+mj-lt"/>
              <a:buAutoNum type="arabicPeriod"/>
            </a:pPr>
            <a:r>
              <a:rPr lang="en-IN" sz="3200" dirty="0">
                <a:latin typeface="Times New Roman" panose="02020603050405020304" pitchFamily="18" charset="0"/>
                <a:cs typeface="Times New Roman" panose="02020603050405020304" pitchFamily="18" charset="0"/>
              </a:rPr>
              <a:t>System Design &amp; Architecture</a:t>
            </a:r>
            <a:endParaRPr lang="en-US" sz="2800" b="1" spc="-84" dirty="0">
              <a:solidFill>
                <a:srgbClr val="181C24">
                  <a:alpha val="100000"/>
                </a:srgbClr>
              </a:solidFill>
              <a:latin typeface="Times New Roman" panose="02020603050405020304" pitchFamily="18" charset="0"/>
              <a:cs typeface="Times New Roman" panose="02020603050405020304" pitchFamily="18" charset="0"/>
            </a:endParaRPr>
          </a:p>
          <a:p>
            <a:pPr marL="623888" indent="-623888">
              <a:buFont typeface="+mj-lt"/>
              <a:buAutoNum type="arabicPeriod"/>
            </a:pPr>
            <a:r>
              <a:rPr lang="en-IN" sz="3200" dirty="0"/>
              <a:t>Algorithms Used</a:t>
            </a:r>
            <a:endParaRPr lang="en-US" sz="2800" b="1" spc="-84" dirty="0">
              <a:solidFill>
                <a:srgbClr val="181C24">
                  <a:alpha val="100000"/>
                </a:srgbClr>
              </a:solidFill>
              <a:latin typeface="Times New Roman" panose="02020603050405020304" pitchFamily="18" charset="0"/>
              <a:cs typeface="Times New Roman" panose="02020603050405020304" pitchFamily="18" charset="0"/>
            </a:endParaRPr>
          </a:p>
          <a:p>
            <a:pPr marL="623888" indent="-623888">
              <a:buFont typeface="+mj-lt"/>
              <a:buAutoNum type="arabicPeriod"/>
            </a:pPr>
            <a:r>
              <a:rPr lang="en-IN" sz="3200" dirty="0">
                <a:latin typeface="Times New Roman" panose="02020603050405020304" pitchFamily="18" charset="0"/>
                <a:cs typeface="Times New Roman" panose="02020603050405020304" pitchFamily="18" charset="0"/>
              </a:rPr>
              <a:t>Experimental Results &amp; Discussion</a:t>
            </a:r>
            <a:endParaRPr lang="en-US" sz="2800" b="1" spc="-84" dirty="0">
              <a:solidFill>
                <a:srgbClr val="181C24">
                  <a:alpha val="100000"/>
                </a:srgbClr>
              </a:solidFill>
              <a:latin typeface="Times New Roman" panose="02020603050405020304" pitchFamily="18" charset="0"/>
              <a:cs typeface="Times New Roman" panose="02020603050405020304" pitchFamily="18" charset="0"/>
            </a:endParaRPr>
          </a:p>
          <a:p>
            <a:pPr marL="623888" indent="-623888">
              <a:buFont typeface="+mj-lt"/>
              <a:buAutoNum type="arabicPeriod"/>
            </a:pPr>
            <a:r>
              <a:rPr lang="en-IN" sz="3200" dirty="0">
                <a:latin typeface="Times New Roman" panose="02020603050405020304" pitchFamily="18" charset="0"/>
                <a:cs typeface="Times New Roman" panose="02020603050405020304" pitchFamily="18" charset="0"/>
              </a:rPr>
              <a:t>Conclusion &amp; Future Work</a:t>
            </a:r>
            <a:endParaRPr lang="en-US" sz="2800" b="1" spc="-84" dirty="0">
              <a:solidFill>
                <a:srgbClr val="181C24">
                  <a:alpha val="100000"/>
                </a:srgbClr>
              </a:solidFill>
              <a:latin typeface="Times New Roman" panose="02020603050405020304" pitchFamily="18" charset="0"/>
              <a:cs typeface="Times New Roman" panose="02020603050405020304" pitchFamily="18" charset="0"/>
            </a:endParaRPr>
          </a:p>
          <a:p>
            <a:pPr marL="623888" indent="-623888">
              <a:buFont typeface="+mj-lt"/>
              <a:buAutoNum type="arabicPeriod"/>
            </a:pPr>
            <a:r>
              <a:rPr lang="en-US" sz="3200" dirty="0">
                <a:latin typeface="Times New Roman" panose="02020603050405020304" pitchFamily="18" charset="0"/>
                <a:cs typeface="Times New Roman" panose="02020603050405020304" pitchFamily="18" charset="0"/>
              </a:rPr>
              <a:t>References </a:t>
            </a:r>
          </a:p>
        </p:txBody>
      </p:sp>
    </p:spTree>
    <p:extLst>
      <p:ext uri="{BB962C8B-B14F-4D97-AF65-F5344CB8AC3E}">
        <p14:creationId xmlns:p14="http://schemas.microsoft.com/office/powerpoint/2010/main" val="1947345714"/>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300"/>
                                  </p:stCondLst>
                                  <p:childTnLst>
                                    <p:set>
                                      <p:cBhvr>
                                        <p:cTn id="46" dur="1" fill="hold">
                                          <p:stCondLst>
                                            <p:cond delay="0"/>
                                          </p:stCondLst>
                                        </p:cTn>
                                        <p:tgtEl>
                                          <p:spTgt spid="374"/>
                                        </p:tgtEl>
                                        <p:attrNameLst>
                                          <p:attrName>style.visibility</p:attrName>
                                        </p:attrNameLst>
                                      </p:cBhvr>
                                      <p:to>
                                        <p:strVal val="visible"/>
                                      </p:to>
                                    </p:set>
                                    <p:animEffect transition="in" filter="fade">
                                      <p:cBhvr>
                                        <p:cTn id="47" dur="600"/>
                                        <p:tgtEl>
                                          <p:spTgt spid="374"/>
                                        </p:tgtEl>
                                      </p:cBhvr>
                                    </p:animEffect>
                                  </p:childTnLst>
                                </p:cTn>
                              </p:par>
                              <p:par>
                                <p:cTn id="48" presetID="64" presetClass="path" presetSubtype="0" accel="50000" decel="50000" fill="hold" nodeType="withEffect">
                                  <p:stCondLst>
                                    <p:cond delay="300"/>
                                  </p:stCondLst>
                                  <p:childTnLst>
                                    <p:animMotion origin="layout" path="M 0 0.04629225 L 0 -4.0478176E-06 E" pathEditMode="relative" ptsTypes="">
                                      <p:cBhvr>
                                        <p:cTn id="49"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7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D447D3F8-93D1-453B-83F5-75E1A01F88BF}">
                <asvg:svgBlip xmlns:asvg="http://schemas.microsoft.com/office/drawing/2016/SVG/main" xmlns:p14="http://schemas.microsoft.com/office/powerpoint/2010/main" xmlns:a14="http://schemas.microsoft.com/office/drawing/2010/main" xmlns:a16="http://schemas.microsoft.com/office/drawing/2014/main" xmlns="" r:embed="rId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A8642F66-C0BB-4949-9A9C-024B120A5D52}"/>
              </a:ext>
            </a:extLst>
          </p:cNvPr>
          <p:cNvPicPr>
            <a:picLocks noChangeAspect="1"/>
          </p:cNvPicPr>
          <p:nvPr/>
        </p:nvPicPr>
        <p:blipFill rotWithShape="1">
          <a:blip r:embed="rId25">
            <a:alphaModFix/>
            <a:extLst>
              <a:ext uri="{2D28C7F6-BB24-4A95-BEB7-42B481537082}">
                <asvg:svgBlip xmlns:asvg="http://schemas.microsoft.com/office/drawing/2016/SVG/main" xmlns:p14="http://schemas.microsoft.com/office/powerpoint/2010/main" xmlns:a14="http://schemas.microsoft.com/office/drawing/2010/main" xmlns:a16="http://schemas.microsoft.com/office/drawing/2014/main" xmlns="" r:embed="rId27"/>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pic>
        <p:nvPicPr>
          <p:cNvPr id="3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8">
            <a:alphaModFix/>
          </a:blip>
          <a:stretch/>
        </p:blipFill>
        <p:spPr>
          <a:xfrm>
            <a:off x="1424168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111B4A49-B930-4A89-A1CD-6CA2B3D95AED}"/>
              </a:ext>
            </a:extLst>
          </p:cNvPr>
          <p:cNvSpPr txBox="1"/>
          <p:nvPr/>
        </p:nvSpPr>
        <p:spPr>
          <a:xfrm>
            <a:off x="1409700" y="993172"/>
            <a:ext cx="15516225" cy="638445"/>
          </a:xfrm>
          <a:prstGeom prst="rect">
            <a:avLst/>
          </a:prstGeom>
          <a:noFill/>
        </p:spPr>
        <p:txBody>
          <a:bodyPr vertOverflow="clip" horzOverflow="clip" wrap="square" lIns="0" tIns="0" rIns="0" bIns="0" rtlCol="0" anchor="t">
            <a:spAutoFit/>
          </a:bodyPr>
          <a:lstStyle/>
          <a:p>
            <a:pPr algn="ctr">
              <a:lnSpc>
                <a:spcPts val="5292"/>
              </a:lnSpc>
            </a:pPr>
            <a:r>
              <a:rPr lang="en-US" sz="4400" spc="-84" dirty="0">
                <a:solidFill>
                  <a:srgbClr val="181C24">
                    <a:alpha val="100000"/>
                  </a:srgbClr>
                </a:solidFill>
                <a:latin typeface="IBM Plex Serif SemiBold" panose="00000700000000000000" pitchFamily="2" charset="0"/>
              </a:rPr>
              <a:t>INTRODUCTION</a:t>
            </a:r>
          </a:p>
        </p:txBody>
      </p:sp>
      <p:sp>
        <p:nvSpPr>
          <p:cNvPr id="2" name="TextBox 1">
            <a:extLst>
              <a:ext uri="{FF2B5EF4-FFF2-40B4-BE49-F238E27FC236}">
                <a16:creationId xmlns:a16="http://schemas.microsoft.com/office/drawing/2014/main" id="{74B7496C-7C36-DEA5-12CF-C31371120CC2}"/>
              </a:ext>
            </a:extLst>
          </p:cNvPr>
          <p:cNvSpPr txBox="1"/>
          <p:nvPr/>
        </p:nvSpPr>
        <p:spPr>
          <a:xfrm>
            <a:off x="2119086" y="2347435"/>
            <a:ext cx="13079725" cy="5536900"/>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The healthcare sector faces challenges in emergency logistics.</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Drones can improve medical supply delivery.</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HealthWings integrates AI and gesture control for smart navigation.</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This presentation explores the feasibility and applications.</a:t>
            </a:r>
          </a:p>
        </p:txBody>
      </p:sp>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1560"/>
                                  </p:stCondLst>
                                  <p:childTnLst>
                                    <p:set>
                                      <p:cBhvr>
                                        <p:cTn id="46" dur="1" fill="hold">
                                          <p:stCondLst>
                                            <p:cond delay="0"/>
                                          </p:stCondLst>
                                        </p:cTn>
                                        <p:tgtEl>
                                          <p:spTgt spid="366"/>
                                        </p:tgtEl>
                                        <p:attrNameLst>
                                          <p:attrName>style.visibility</p:attrName>
                                        </p:attrNameLst>
                                      </p:cBhvr>
                                      <p:to>
                                        <p:strVal val="visible"/>
                                      </p:to>
                                    </p:set>
                                    <p:animEffect transition="in" filter="fade">
                                      <p:cBhvr>
                                        <p:cTn id="47" dur="1000"/>
                                        <p:tgtEl>
                                          <p:spTgt spid="366"/>
                                        </p:tgtEl>
                                      </p:cBhvr>
                                    </p:animEffect>
                                  </p:childTnLst>
                                </p:cTn>
                              </p:par>
                              <p:par>
                                <p:cTn id="48" presetID="64" presetClass="path" presetSubtype="0" accel="50000" decel="50000" fill="hold" nodeType="withEffect">
                                  <p:stCondLst>
                                    <p:cond delay="1560"/>
                                  </p:stCondLst>
                                  <p:childTnLst>
                                    <p:animMotion origin="layout" path="M -1.2715658E-06 0.046296295 L -1.2715658E-06 0 E" pathEditMode="relative" ptsTypes="">
                                      <p:cBhvr>
                                        <p:cTn id="49" dur="1000" fill="hold"/>
                                        <p:tgtEl>
                                          <p:spTgt spid="366"/>
                                        </p:tgtEl>
                                        <p:attrNameLst>
                                          <p:attrName>ppt_x</p:attrName>
                                          <p:attrName>ppt_y</p:attrName>
                                        </p:attrNameLst>
                                      </p:cBhvr>
                                    </p:animMotion>
                                  </p:childTnLst>
                                </p:cTn>
                              </p:par>
                              <p:par>
                                <p:cTn id="50" presetID="10" presetClass="entr" presetSubtype="0" accel="50000" decel="50000" fill="hold" nodeType="withEffect">
                                  <p:stCondLst>
                                    <p:cond delay="300"/>
                                  </p:stCondLst>
                                  <p:childTnLst>
                                    <p:set>
                                      <p:cBhvr>
                                        <p:cTn id="51" dur="1" fill="hold">
                                          <p:stCondLst>
                                            <p:cond delay="0"/>
                                          </p:stCondLst>
                                        </p:cTn>
                                        <p:tgtEl>
                                          <p:spTgt spid="374"/>
                                        </p:tgtEl>
                                        <p:attrNameLst>
                                          <p:attrName>style.visibility</p:attrName>
                                        </p:attrNameLst>
                                      </p:cBhvr>
                                      <p:to>
                                        <p:strVal val="visible"/>
                                      </p:to>
                                    </p:set>
                                    <p:animEffect transition="in" filter="fade">
                                      <p:cBhvr>
                                        <p:cTn id="52" dur="600"/>
                                        <p:tgtEl>
                                          <p:spTgt spid="374"/>
                                        </p:tgtEl>
                                      </p:cBhvr>
                                    </p:animEffect>
                                  </p:childTnLst>
                                </p:cTn>
                              </p:par>
                              <p:par>
                                <p:cTn id="53" presetID="64" presetClass="path" presetSubtype="0" accel="50000" decel="50000" fill="hold" nodeType="withEffect">
                                  <p:stCondLst>
                                    <p:cond delay="300"/>
                                  </p:stCondLst>
                                  <p:childTnLst>
                                    <p:animMotion origin="layout" path="M 0 0.04629225 L 0 -4.0478176E-06 E" pathEditMode="relative" ptsTypes="">
                                      <p:cBhvr>
                                        <p:cTn id="54"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66" grpId="0"/>
      <p:bldP spid="37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B82AF-FD12-6E77-4967-4EB8B6F0E6D5}"/>
            </a:ext>
          </a:extLst>
        </p:cNvPr>
        <p:cNvGrpSpPr/>
        <p:nvPr/>
      </p:nvGrpSpPr>
      <p:grpSpPr>
        <a:xfrm>
          <a:off x="0" y="0"/>
          <a:ext cx="0" cy="0"/>
          <a:chOff x="0" y="0"/>
          <a:chExt cx="0" cy="0"/>
        </a:xfrm>
      </p:grpSpPr>
      <p:pic>
        <p:nvPicPr>
          <p:cNvPr id="316" name="Rect">
            <a:extLst>
              <a:ext uri="{FF2B5EF4-FFF2-40B4-BE49-F238E27FC236}">
                <a16:creationId xmlns:a16="http://schemas.microsoft.com/office/drawing/2014/main" id="{E3F4A8F4-8A62-36D7-DD8B-23F5C27A67F4}"/>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8440FF50-4D1D-2E2E-D3D2-59D47506181F}"/>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F404D98C-6DF7-96FE-E56E-DD7316B2CF76}"/>
              </a:ext>
            </a:extLst>
          </p:cNvPr>
          <p:cNvPicPr>
            <a:picLocks noChangeAspect="1"/>
          </p:cNvPicPr>
          <p:nvPr/>
        </p:nvPicPr>
        <p:blipFill rotWithShape="1">
          <a:blip r:embed="rId4">
            <a:alphaModFix/>
            <a:extLst>
              <a:ext uri="{D447D3F8-93D1-453B-83F5-75E1A01F88BF}">
                <asvg:svgBlip xmlns="" xmlns:a16="http://schemas.microsoft.com/office/drawing/2014/main" xmlns:a14="http://schemas.microsoft.com/office/drawing/2010/main" xmlns:p14="http://schemas.microsoft.com/office/powerpoint/2010/main" xmlns:asvg="http://schemas.microsoft.com/office/drawing/2016/SVG/main" r:embed="rId2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01AA331E-007B-426E-DF0B-5CDC9C08FAB4}"/>
              </a:ext>
            </a:extLst>
          </p:cNvPr>
          <p:cNvPicPr>
            <a:picLocks noChangeAspect="1"/>
          </p:cNvPicPr>
          <p:nvPr/>
        </p:nvPicPr>
        <p:blipFill rotWithShape="1">
          <a:blip r:embed="rId25">
            <a:alphaModFix/>
            <a:extLst>
              <a:ext uri="{2D28C7F6-BB24-4A95-BEB7-42B481537082}">
                <asvg:svgBlip xmlns="" xmlns:a16="http://schemas.microsoft.com/office/drawing/2014/main" xmlns:a14="http://schemas.microsoft.com/office/drawing/2010/main" xmlns:p14="http://schemas.microsoft.com/office/powerpoint/2010/main" xmlns:asvg="http://schemas.microsoft.com/office/drawing/2016/SVG/main" r:embed="rI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24359781-5D63-A753-987E-D77ECFA82E87}"/>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E825E4AD-C2DB-5DF2-CCD5-6A11912646D8}"/>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E202746E-8967-63F6-10CA-1544D7F4CF42}"/>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2D4F460E-E7B7-5369-FC9B-B8E90B24401E}"/>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FA8ECAB5-6A1B-6139-7C7A-EC89FB36BA7B}"/>
              </a:ext>
            </a:extLst>
          </p:cNvPr>
          <p:cNvSpPr txBox="1"/>
          <p:nvPr/>
        </p:nvSpPr>
        <p:spPr>
          <a:xfrm>
            <a:off x="1409700" y="993172"/>
            <a:ext cx="15516225" cy="638445"/>
          </a:xfrm>
          <a:prstGeom prst="rect">
            <a:avLst/>
          </a:prstGeom>
          <a:noFill/>
        </p:spPr>
        <p:txBody>
          <a:bodyPr vertOverflow="clip" horzOverflow="clip" wrap="square" lIns="0" tIns="0" rIns="0" bIns="0" rtlCol="0" anchor="t">
            <a:spAutoFit/>
          </a:bodyPr>
          <a:lstStyle/>
          <a:p>
            <a:pPr algn="ctr">
              <a:lnSpc>
                <a:spcPts val="5292"/>
              </a:lnSpc>
            </a:pPr>
            <a:r>
              <a:rPr lang="en-US" sz="4400" b="1" dirty="0">
                <a:latin typeface="Times New Roman" panose="02020603050405020304" pitchFamily="18" charset="0"/>
                <a:cs typeface="Times New Roman" panose="02020603050405020304" pitchFamily="18" charset="0"/>
              </a:rPr>
              <a:t>Problem Statement</a:t>
            </a:r>
            <a:endParaRPr lang="en-US" sz="4200" b="1"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971C3C5-C9F8-E687-B8A2-D012CC4C2DEB}"/>
              </a:ext>
            </a:extLst>
          </p:cNvPr>
          <p:cNvSpPr txBox="1"/>
          <p:nvPr/>
        </p:nvSpPr>
        <p:spPr>
          <a:xfrm>
            <a:off x="2119086" y="2347435"/>
            <a:ext cx="14187714" cy="297068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3200" kern="0" spc="-34" dirty="0">
                <a:solidFill>
                  <a:srgbClr val="272525"/>
                </a:solidFill>
                <a:latin typeface="Times New Roman" panose="02020603050405020304" pitchFamily="18" charset="0"/>
                <a:ea typeface="Inter" pitchFamily="34" charset="-122"/>
                <a:cs typeface="Times New Roman" panose="02020603050405020304" pitchFamily="18" charset="0"/>
              </a:rPr>
              <a:t>Current medical response systems face delays and accessibility issues. Remote areas lack timely access to critical supplies. Existing drone solutions have limited navigation and control. HealthWings addresses these challenges. It offers a faster, smarter solution.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91795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300"/>
                                  </p:stCondLst>
                                  <p:childTnLst>
                                    <p:set>
                                      <p:cBhvr>
                                        <p:cTn id="46" dur="1" fill="hold">
                                          <p:stCondLst>
                                            <p:cond delay="0"/>
                                          </p:stCondLst>
                                        </p:cTn>
                                        <p:tgtEl>
                                          <p:spTgt spid="374"/>
                                        </p:tgtEl>
                                        <p:attrNameLst>
                                          <p:attrName>style.visibility</p:attrName>
                                        </p:attrNameLst>
                                      </p:cBhvr>
                                      <p:to>
                                        <p:strVal val="visible"/>
                                      </p:to>
                                    </p:set>
                                    <p:animEffect transition="in" filter="fade">
                                      <p:cBhvr>
                                        <p:cTn id="47" dur="600"/>
                                        <p:tgtEl>
                                          <p:spTgt spid="374"/>
                                        </p:tgtEl>
                                      </p:cBhvr>
                                    </p:animEffect>
                                  </p:childTnLst>
                                </p:cTn>
                              </p:par>
                              <p:par>
                                <p:cTn id="48" presetID="64" presetClass="path" presetSubtype="0" accel="50000" decel="50000" fill="hold" nodeType="withEffect">
                                  <p:stCondLst>
                                    <p:cond delay="300"/>
                                  </p:stCondLst>
                                  <p:childTnLst>
                                    <p:animMotion origin="layout" path="M 0 0.04629225 L 0 -4.0478176E-06 E" pathEditMode="relative" ptsTypes="">
                                      <p:cBhvr>
                                        <p:cTn id="49"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7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2971800"/>
            <a:ext cx="18288000" cy="10287000"/>
          </a:xfrm>
          <a:prstGeom prst="rect">
            <a:avLst/>
          </a:prstGeom>
        </p:spPr>
      </p:pic>
      <p:pic>
        <p:nvPicPr>
          <p:cNvPr id="3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715000" cy="5715000"/>
          </a:xfrm>
          <a:prstGeom prst="rect">
            <a:avLst/>
          </a:prstGeom>
        </p:spPr>
      </p:pic>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8046815" y="0"/>
            <a:ext cx="10239375" cy="10287000"/>
          </a:xfrm>
          <a:prstGeom prst="rect">
            <a:avLst/>
          </a:prstGeom>
        </p:spPr>
      </p:pic>
      <p:pic>
        <p:nvPicPr>
          <p:cNvPr id="387" name="layoutShapeInnerChild7">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63F299F-D3B2-4635-AEC0-4BFB138055D7}">
                <asvg:svgBlip xmlns:asvg="http://schemas.microsoft.com/office/drawing/2016/SVG/main" xmlns:p14="http://schemas.microsoft.com/office/powerpoint/2010/main" xmlns:a14="http://schemas.microsoft.com/office/drawing/2010/main" xmlns:a16="http://schemas.microsoft.com/office/drawing/2014/main" xmlns="" r:embed="rId68"/>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389" name="layoutShapeInnerChild9">
            <a:extLst>
              <a:ext uri="{FF2B5EF4-FFF2-40B4-BE49-F238E27FC236}">
                <a16:creationId xmlns:a16="http://schemas.microsoft.com/office/drawing/2014/main" id="{A8642F66-C0BB-4949-9A9C-024B120A5D52}"/>
              </a:ext>
            </a:extLst>
          </p:cNvPr>
          <p:cNvPicPr>
            <a:picLocks noChangeAspect="1"/>
          </p:cNvPicPr>
          <p:nvPr/>
        </p:nvPicPr>
        <p:blipFill rotWithShape="1">
          <a:blip r:embed="rId69">
            <a:alphaModFix/>
            <a:extLst>
              <a:ext uri="{7561CB67-202A-4D08-AFDA-635053AE068E}">
                <asvg:svgBlip xmlns:asvg="http://schemas.microsoft.com/office/drawing/2016/SVG/main" xmlns:p14="http://schemas.microsoft.com/office/powerpoint/2010/main" xmlns:a14="http://schemas.microsoft.com/office/drawing/2010/main" xmlns:a16="http://schemas.microsoft.com/office/drawing/2014/main" xmlns="" r:embed="rId7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3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2">
            <a:alphaModFix/>
          </a:blip>
          <a:stretch/>
        </p:blipFill>
        <p:spPr>
          <a:xfrm>
            <a:off x="2628900" y="5939357"/>
            <a:ext cx="457200" cy="476250"/>
          </a:xfrm>
          <a:prstGeom prst="rect">
            <a:avLst/>
          </a:prstGeom>
        </p:spPr>
      </p:pic>
      <p:sp>
        <p:nvSpPr>
          <p:cNvPr id="393" name="-0">
            <a:extLst>
              <a:ext uri="{FF2B5EF4-FFF2-40B4-BE49-F238E27FC236}">
                <a16:creationId xmlns:a16="http://schemas.microsoft.com/office/drawing/2014/main" id="{111B4A49-B930-4A89-A1CD-6CA2B3D95AED}"/>
              </a:ext>
            </a:extLst>
          </p:cNvPr>
          <p:cNvSpPr txBox="1"/>
          <p:nvPr/>
        </p:nvSpPr>
        <p:spPr>
          <a:xfrm>
            <a:off x="2714625" y="6000971"/>
            <a:ext cx="285750" cy="314325"/>
          </a:xfrm>
          <a:prstGeom prst="rect">
            <a:avLst/>
          </a:prstGeom>
          <a:noFill/>
        </p:spPr>
        <p:txBody>
          <a:bodyPr vertOverflow="clip" horzOverflow="clip" wrap="square" lIns="0" tIns="0" rIns="0" bIns="0" rtlCol="0" anchor="t">
            <a:spAutoFit/>
          </a:bodyPr>
          <a:lstStyle/>
          <a:p>
            <a:pPr algn="ctr">
              <a:lnSpc>
                <a:spcPts val="2430"/>
              </a:lnSpc>
            </a:pPr>
            <a:r>
              <a:rPr lang="en-US" sz="1620" spc="16" dirty="0">
                <a:solidFill>
                  <a:srgbClr val="FFFFFF">
                    <a:alpha val="100000"/>
                  </a:srgbClr>
                </a:solidFill>
                <a:latin typeface="Noto Serif SemiBold" panose="00000700000000000000" pitchFamily="2" charset="0"/>
              </a:rPr>
              <a:t>01</a:t>
            </a:r>
          </a:p>
        </p:txBody>
      </p:sp>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3">
            <a:alphaModFix/>
          </a:blip>
          <a:stretch/>
        </p:blipFill>
        <p:spPr>
          <a:xfrm>
            <a:off x="2625890" y="6867977"/>
            <a:ext cx="457200" cy="476250"/>
          </a:xfrm>
          <a:prstGeom prst="rect">
            <a:avLst/>
          </a:prstGeom>
        </p:spPr>
      </p:pic>
      <p:sp>
        <p:nvSpPr>
          <p:cNvPr id="401" name="-1">
            <a:extLst>
              <a:ext uri="{FF2B5EF4-FFF2-40B4-BE49-F238E27FC236}">
                <a16:creationId xmlns:a16="http://schemas.microsoft.com/office/drawing/2014/main" id="{111B4A49-B930-4A89-A1CD-6CA2B3D95AED}"/>
              </a:ext>
            </a:extLst>
          </p:cNvPr>
          <p:cNvSpPr txBox="1"/>
          <p:nvPr/>
        </p:nvSpPr>
        <p:spPr>
          <a:xfrm>
            <a:off x="2711615" y="6929731"/>
            <a:ext cx="285750" cy="314325"/>
          </a:xfrm>
          <a:prstGeom prst="rect">
            <a:avLst/>
          </a:prstGeom>
          <a:noFill/>
        </p:spPr>
        <p:txBody>
          <a:bodyPr vertOverflow="clip" horzOverflow="clip" wrap="square" lIns="0" tIns="0" rIns="0" bIns="0" rtlCol="0" anchor="t">
            <a:spAutoFit/>
          </a:bodyPr>
          <a:lstStyle/>
          <a:p>
            <a:pPr algn="ctr">
              <a:lnSpc>
                <a:spcPts val="2430"/>
              </a:lnSpc>
            </a:pPr>
            <a:r>
              <a:rPr lang="en-US" sz="1620" spc="16" dirty="0">
                <a:solidFill>
                  <a:srgbClr val="FFFFFF">
                    <a:alpha val="100000"/>
                  </a:srgbClr>
                </a:solidFill>
                <a:latin typeface="Noto Serif SemiBold" panose="00000700000000000000" pitchFamily="2" charset="0"/>
              </a:rPr>
              <a:t>02</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4">
            <a:alphaModFix/>
          </a:blip>
          <a:stretch/>
        </p:blipFill>
        <p:spPr>
          <a:xfrm>
            <a:off x="2625890" y="7749735"/>
            <a:ext cx="457200" cy="476250"/>
          </a:xfrm>
          <a:prstGeom prst="rect">
            <a:avLst/>
          </a:prstGeom>
        </p:spPr>
      </p:pic>
      <p:sp>
        <p:nvSpPr>
          <p:cNvPr id="409" name="-2">
            <a:extLst>
              <a:ext uri="{FF2B5EF4-FFF2-40B4-BE49-F238E27FC236}">
                <a16:creationId xmlns:a16="http://schemas.microsoft.com/office/drawing/2014/main" id="{111B4A49-B930-4A89-A1CD-6CA2B3D95AED}"/>
              </a:ext>
            </a:extLst>
          </p:cNvPr>
          <p:cNvSpPr txBox="1"/>
          <p:nvPr/>
        </p:nvSpPr>
        <p:spPr>
          <a:xfrm>
            <a:off x="2721003" y="7818144"/>
            <a:ext cx="285750" cy="314325"/>
          </a:xfrm>
          <a:prstGeom prst="rect">
            <a:avLst/>
          </a:prstGeom>
          <a:noFill/>
        </p:spPr>
        <p:txBody>
          <a:bodyPr vertOverflow="clip" horzOverflow="clip" wrap="square" lIns="0" tIns="0" rIns="0" bIns="0" rtlCol="0" anchor="t">
            <a:spAutoFit/>
          </a:bodyPr>
          <a:lstStyle/>
          <a:p>
            <a:pPr algn="ctr">
              <a:lnSpc>
                <a:spcPts val="2430"/>
              </a:lnSpc>
            </a:pPr>
            <a:r>
              <a:rPr lang="en-US" sz="1620" spc="16" dirty="0">
                <a:solidFill>
                  <a:srgbClr val="FFFFFF">
                    <a:alpha val="100000"/>
                  </a:srgbClr>
                </a:solidFill>
                <a:latin typeface="Noto Serif SemiBold" panose="00000700000000000000" pitchFamily="2" charset="0"/>
              </a:rPr>
              <a:t>03</a:t>
            </a:r>
          </a:p>
        </p:txBody>
      </p:sp>
      <p:sp>
        <p:nvSpPr>
          <p:cNvPr id="441" name="-6">
            <a:extLst>
              <a:ext uri="{FF2B5EF4-FFF2-40B4-BE49-F238E27FC236}">
                <a16:creationId xmlns:a16="http://schemas.microsoft.com/office/drawing/2014/main" id="{111B4A49-B930-4A89-A1CD-6CA2B3D95AED}"/>
              </a:ext>
            </a:extLst>
          </p:cNvPr>
          <p:cNvSpPr txBox="1"/>
          <p:nvPr/>
        </p:nvSpPr>
        <p:spPr>
          <a:xfrm>
            <a:off x="9484042" y="6732842"/>
            <a:ext cx="285750" cy="284437"/>
          </a:xfrm>
          <a:prstGeom prst="rect">
            <a:avLst/>
          </a:prstGeom>
          <a:noFill/>
        </p:spPr>
        <p:txBody>
          <a:bodyPr vertOverflow="clip" horzOverflow="clip" wrap="square" lIns="0" tIns="0" rIns="0" bIns="0" rtlCol="0" anchor="t">
            <a:spAutoFit/>
          </a:bodyPr>
          <a:lstStyle/>
          <a:p>
            <a:pPr algn="ctr">
              <a:lnSpc>
                <a:spcPts val="2430"/>
              </a:lnSpc>
            </a:pPr>
            <a:r>
              <a:rPr lang="en-US" sz="1620" spc="16" dirty="0">
                <a:solidFill>
                  <a:srgbClr val="FFFFFF">
                    <a:alpha val="100000"/>
                  </a:srgbClr>
                </a:solidFill>
                <a:latin typeface="Noto Serif SemiBold" panose="00000700000000000000" pitchFamily="2" charset="0"/>
              </a:rPr>
              <a:t>0</a:t>
            </a:r>
          </a:p>
        </p:txBody>
      </p:sp>
      <p:sp>
        <p:nvSpPr>
          <p:cNvPr id="447" name="Click here to edit title-460">
            <a:extLst>
              <a:ext uri="{FF2B5EF4-FFF2-40B4-BE49-F238E27FC236}">
                <a16:creationId xmlns:a16="http://schemas.microsoft.com/office/drawing/2014/main" id="{111B4A49-B930-4A89-A1CD-6CA2B3D95AED}"/>
              </a:ext>
            </a:extLst>
          </p:cNvPr>
          <p:cNvSpPr txBox="1"/>
          <p:nvPr/>
        </p:nvSpPr>
        <p:spPr>
          <a:xfrm>
            <a:off x="1385887" y="938582"/>
            <a:ext cx="15516225" cy="655692"/>
          </a:xfrm>
          <a:prstGeom prst="rect">
            <a:avLst/>
          </a:prstGeom>
          <a:noFill/>
        </p:spPr>
        <p:txBody>
          <a:bodyPr vertOverflow="clip" horzOverflow="clip" wrap="square" lIns="0" tIns="0" rIns="0" bIns="0" rtlCol="0" anchor="t">
            <a:spAutoFit/>
          </a:bodyPr>
          <a:lstStyle/>
          <a:p>
            <a:pPr algn="ctr">
              <a:lnSpc>
                <a:spcPts val="5292"/>
              </a:lnSpc>
            </a:pPr>
            <a:r>
              <a:rPr lang="en-US" sz="4400" b="1" dirty="0">
                <a:latin typeface="Times New Roman" panose="02020603050405020304" pitchFamily="18" charset="0"/>
                <a:cs typeface="Times New Roman" panose="02020603050405020304" pitchFamily="18" charset="0"/>
              </a:rPr>
              <a:t>OBJECTIVES</a:t>
            </a:r>
            <a:endParaRPr lang="en-US" sz="4200" b="1"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5AE8B4E-A40E-2A98-5B66-55E6857B1755}"/>
              </a:ext>
            </a:extLst>
          </p:cNvPr>
          <p:cNvSpPr txBox="1"/>
          <p:nvPr/>
        </p:nvSpPr>
        <p:spPr>
          <a:xfrm>
            <a:off x="3248919" y="5904090"/>
            <a:ext cx="9086852" cy="819455"/>
          </a:xfrm>
          <a:prstGeom prst="rect">
            <a:avLst/>
          </a:prstGeom>
          <a:noFill/>
        </p:spPr>
        <p:txBody>
          <a:bodyPr wrap="square" rtlCol="0">
            <a:spAutoFit/>
          </a:bodyPr>
          <a:lstStyle/>
          <a:p>
            <a:pPr>
              <a:lnSpc>
                <a:spcPts val="2700"/>
              </a:lnSpc>
            </a:pPr>
            <a:r>
              <a:rPr lang="en-US" sz="3200" b="1" kern="0" spc="-66" dirty="0">
                <a:solidFill>
                  <a:srgbClr val="272525"/>
                </a:solidFill>
                <a:latin typeface="Times New Roman" panose="02020603050405020304" pitchFamily="18" charset="0"/>
                <a:ea typeface="Inter Bold" pitchFamily="34" charset="-122"/>
                <a:cs typeface="Times New Roman" panose="02020603050405020304" pitchFamily="18" charset="0"/>
              </a:rPr>
              <a:t>Enhanced Navigation- </a:t>
            </a:r>
            <a:r>
              <a:rPr lang="en-US" sz="3200" kern="0" spc="-35" dirty="0">
                <a:solidFill>
                  <a:srgbClr val="272525"/>
                </a:solidFill>
                <a:latin typeface="Times New Roman" panose="02020603050405020304" pitchFamily="18" charset="0"/>
                <a:ea typeface="Inter" pitchFamily="34" charset="-122"/>
                <a:cs typeface="Times New Roman" panose="02020603050405020304" pitchFamily="18" charset="0"/>
              </a:rPr>
              <a:t>Accurate AI routing.</a:t>
            </a:r>
            <a:endParaRPr lang="en-US" sz="3200" dirty="0">
              <a:latin typeface="Times New Roman" panose="02020603050405020304" pitchFamily="18" charset="0"/>
              <a:cs typeface="Times New Roman" panose="02020603050405020304" pitchFamily="18" charset="0"/>
            </a:endParaRPr>
          </a:p>
          <a:p>
            <a:pPr marL="0" indent="0" algn="l">
              <a:lnSpc>
                <a:spcPts val="2700"/>
              </a:lnSpc>
              <a:buNone/>
            </a:pPr>
            <a:endParaRPr 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6EFB84C-2E22-CDDC-977C-EAB76453DAB8}"/>
              </a:ext>
            </a:extLst>
          </p:cNvPr>
          <p:cNvSpPr txBox="1"/>
          <p:nvPr/>
        </p:nvSpPr>
        <p:spPr>
          <a:xfrm>
            <a:off x="3250095" y="6825283"/>
            <a:ext cx="9086852" cy="819455"/>
          </a:xfrm>
          <a:prstGeom prst="rect">
            <a:avLst/>
          </a:prstGeom>
          <a:noFill/>
        </p:spPr>
        <p:txBody>
          <a:bodyPr wrap="square" rtlCol="0">
            <a:spAutoFit/>
          </a:bodyPr>
          <a:lstStyle/>
          <a:p>
            <a:pPr>
              <a:lnSpc>
                <a:spcPts val="2700"/>
              </a:lnSpc>
            </a:pPr>
            <a:r>
              <a:rPr lang="en-US" sz="3200" b="1" kern="0" spc="-66" dirty="0">
                <a:solidFill>
                  <a:srgbClr val="272525"/>
                </a:solidFill>
                <a:latin typeface="Times New Roman" panose="02020603050405020304" pitchFamily="18" charset="0"/>
                <a:ea typeface="Inter Bold" pitchFamily="34" charset="-122"/>
                <a:cs typeface="Times New Roman" panose="02020603050405020304" pitchFamily="18" charset="0"/>
              </a:rPr>
              <a:t>Intuitive Control- </a:t>
            </a:r>
            <a:r>
              <a:rPr lang="en-US" sz="3200" kern="0" spc="-35" dirty="0">
                <a:solidFill>
                  <a:srgbClr val="272525"/>
                </a:solidFill>
                <a:latin typeface="Times New Roman" panose="02020603050405020304" pitchFamily="18" charset="0"/>
                <a:ea typeface="Inter" pitchFamily="34" charset="-122"/>
                <a:cs typeface="Times New Roman" panose="02020603050405020304" pitchFamily="18" charset="0"/>
              </a:rPr>
              <a:t>Simple gesture interface.</a:t>
            </a:r>
            <a:endParaRPr lang="en-US" sz="3200" dirty="0">
              <a:latin typeface="Times New Roman" panose="02020603050405020304" pitchFamily="18" charset="0"/>
              <a:cs typeface="Times New Roman" panose="02020603050405020304" pitchFamily="18" charset="0"/>
            </a:endParaRPr>
          </a:p>
          <a:p>
            <a:pPr marL="0" indent="0" algn="l">
              <a:lnSpc>
                <a:spcPts val="2700"/>
              </a:lnSpc>
              <a:buNone/>
            </a:pPr>
            <a:endParaRPr lang="en-US" sz="3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395AE9F-3422-6A30-EEE0-CC4A08AAB964}"/>
              </a:ext>
            </a:extLst>
          </p:cNvPr>
          <p:cNvSpPr txBox="1"/>
          <p:nvPr/>
        </p:nvSpPr>
        <p:spPr>
          <a:xfrm>
            <a:off x="3250095" y="7676611"/>
            <a:ext cx="10117562" cy="819455"/>
          </a:xfrm>
          <a:prstGeom prst="rect">
            <a:avLst/>
          </a:prstGeom>
          <a:noFill/>
        </p:spPr>
        <p:txBody>
          <a:bodyPr wrap="square" rtlCol="0">
            <a:spAutoFit/>
          </a:bodyPr>
          <a:lstStyle/>
          <a:p>
            <a:pPr>
              <a:lnSpc>
                <a:spcPts val="2700"/>
              </a:lnSpc>
            </a:pPr>
            <a:r>
              <a:rPr lang="en-US" sz="3200" b="1" kern="0" spc="-66" dirty="0">
                <a:solidFill>
                  <a:srgbClr val="272525"/>
                </a:solidFill>
                <a:latin typeface="Times New Roman" panose="02020603050405020304" pitchFamily="18" charset="0"/>
                <a:ea typeface="Inter Bold" pitchFamily="34" charset="-122"/>
                <a:cs typeface="Times New Roman" panose="02020603050405020304" pitchFamily="18" charset="0"/>
              </a:rPr>
              <a:t>Reduced Response- </a:t>
            </a:r>
            <a:r>
              <a:rPr lang="en-US" sz="3200" kern="0" spc="-35" dirty="0">
                <a:solidFill>
                  <a:srgbClr val="272525"/>
                </a:solidFill>
                <a:latin typeface="Times New Roman" panose="02020603050405020304" pitchFamily="18" charset="0"/>
                <a:ea typeface="Inter" pitchFamily="34" charset="-122"/>
                <a:cs typeface="Times New Roman" panose="02020603050405020304" pitchFamily="18" charset="0"/>
              </a:rPr>
              <a:t>Quick medical support.</a:t>
            </a:r>
            <a:endParaRPr lang="en-US" sz="3200" dirty="0">
              <a:latin typeface="Times New Roman" panose="02020603050405020304" pitchFamily="18" charset="0"/>
              <a:cs typeface="Times New Roman" panose="02020603050405020304" pitchFamily="18" charset="0"/>
            </a:endParaRPr>
          </a:p>
          <a:p>
            <a:pPr marL="0" indent="0" algn="l">
              <a:lnSpc>
                <a:spcPts val="2700"/>
              </a:lnSpc>
              <a:buNone/>
            </a:pPr>
            <a:endParaRPr lang="en-US"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49A7E56-928E-97E5-4B69-E1D28D5B4691}"/>
              </a:ext>
            </a:extLst>
          </p:cNvPr>
          <p:cNvSpPr txBox="1"/>
          <p:nvPr/>
        </p:nvSpPr>
        <p:spPr>
          <a:xfrm>
            <a:off x="2625890" y="2423160"/>
            <a:ext cx="12705550" cy="2554545"/>
          </a:xfrm>
          <a:prstGeom prst="rect">
            <a:avLst/>
          </a:prstGeom>
          <a:noFill/>
        </p:spPr>
        <p:txBody>
          <a:bodyPr wrap="square" rtlCol="0">
            <a:spAutoFit/>
          </a:bodyPr>
          <a:lstStyle/>
          <a:p>
            <a:r>
              <a:rPr lang="en-US" sz="3200" kern="0" spc="-35" dirty="0">
                <a:solidFill>
                  <a:srgbClr val="272525"/>
                </a:solidFill>
                <a:latin typeface="Times New Roman" panose="02020603050405020304" pitchFamily="18" charset="0"/>
                <a:ea typeface="Inter" pitchFamily="34" charset="-122"/>
                <a:cs typeface="Times New Roman" panose="02020603050405020304" pitchFamily="18" charset="0"/>
              </a:rPr>
              <a:t>Our main goal is to create a reliable, efficient medical drone system. We aim to improve navigation accuracy and simplify user control. It's crucial to reduce response times. This will provide better medical support. We want to transform emergency care.</a:t>
            </a:r>
            <a:endParaRPr lang="en-US"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83"/>
                                        </p:tgtEl>
                                        <p:attrNameLst>
                                          <p:attrName>style.visibility</p:attrName>
                                        </p:attrNameLst>
                                      </p:cBhvr>
                                      <p:to>
                                        <p:strVal val="visible"/>
                                      </p:to>
                                    </p:set>
                                    <p:animEffect transition="in" filter="fade">
                                      <p:cBhvr>
                                        <p:cTn id="7" dur="1200"/>
                                        <p:tgtEl>
                                          <p:spTgt spid="383"/>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83"/>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85"/>
                                        </p:tgtEl>
                                        <p:attrNameLst>
                                          <p:attrName>style.visibility</p:attrName>
                                        </p:attrNameLst>
                                      </p:cBhvr>
                                      <p:to>
                                        <p:strVal val="visible"/>
                                      </p:to>
                                    </p:set>
                                    <p:animEffect transition="in" filter="fade">
                                      <p:cBhvr>
                                        <p:cTn id="12" dur="1200"/>
                                        <p:tgtEl>
                                          <p:spTgt spid="385"/>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85"/>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87"/>
                                        </p:tgtEl>
                                        <p:attrNameLst>
                                          <p:attrName>style.visibility</p:attrName>
                                        </p:attrNameLst>
                                      </p:cBhvr>
                                      <p:to>
                                        <p:strVal val="visible"/>
                                      </p:to>
                                    </p:set>
                                    <p:animEffect transition="in" filter="fade">
                                      <p:cBhvr>
                                        <p:cTn id="17" dur="1200"/>
                                        <p:tgtEl>
                                          <p:spTgt spid="387"/>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87"/>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89"/>
                                        </p:tgtEl>
                                        <p:attrNameLst>
                                          <p:attrName>style.visibility</p:attrName>
                                        </p:attrNameLst>
                                      </p:cBhvr>
                                      <p:to>
                                        <p:strVal val="visible"/>
                                      </p:to>
                                    </p:set>
                                    <p:animEffect transition="in" filter="fade">
                                      <p:cBhvr>
                                        <p:cTn id="22" dur="1200"/>
                                        <p:tgtEl>
                                          <p:spTgt spid="389"/>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89"/>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91"/>
                                        </p:tgtEl>
                                        <p:attrNameLst>
                                          <p:attrName>style.visibility</p:attrName>
                                        </p:attrNameLst>
                                      </p:cBhvr>
                                      <p:to>
                                        <p:strVal val="visible"/>
                                      </p:to>
                                    </p:set>
                                    <p:animEffect transition="in" filter="fade">
                                      <p:cBhvr>
                                        <p:cTn id="27" dur="1000"/>
                                        <p:tgtEl>
                                          <p:spTgt spid="391"/>
                                        </p:tgtEl>
                                      </p:cBhvr>
                                    </p:animEffect>
                                  </p:childTnLst>
                                </p:cTn>
                              </p:par>
                              <p:par>
                                <p:cTn id="28" presetID="64" presetClass="path" presetSubtype="0" accel="50000" decel="50000" fill="hold" nodeType="withEffect">
                                  <p:stCondLst>
                                    <p:cond delay="1000"/>
                                  </p:stCondLst>
                                  <p:childTnLst>
                                    <p:animMotion origin="layout" path="M 0 0.046298612 L 0 2.3170753E-06 E" pathEditMode="relative" ptsTypes="">
                                      <p:cBhvr>
                                        <p:cTn id="29" dur="1000" fill="hold"/>
                                        <p:tgtEl>
                                          <p:spTgt spid="391"/>
                                        </p:tgtEl>
                                        <p:attrNameLst>
                                          <p:attrName>ppt_x</p:attrName>
                                          <p:attrName>ppt_y</p:attrName>
                                        </p:attrNameLst>
                                      </p:cBhvr>
                                    </p:animMotion>
                                  </p:childTnLst>
                                </p:cTn>
                              </p:par>
                              <p:par>
                                <p:cTn id="30" presetID="10" presetClass="entr" presetSubtype="0" accel="50000" decel="50000" fill="hold" nodeType="withEffect">
                                  <p:stCondLst>
                                    <p:cond delay="1000"/>
                                  </p:stCondLst>
                                  <p:childTnLst>
                                    <p:set>
                                      <p:cBhvr>
                                        <p:cTn id="31" dur="1" fill="hold">
                                          <p:stCondLst>
                                            <p:cond delay="0"/>
                                          </p:stCondLst>
                                        </p:cTn>
                                        <p:tgtEl>
                                          <p:spTgt spid="393"/>
                                        </p:tgtEl>
                                        <p:attrNameLst>
                                          <p:attrName>style.visibility</p:attrName>
                                        </p:attrNameLst>
                                      </p:cBhvr>
                                      <p:to>
                                        <p:strVal val="visible"/>
                                      </p:to>
                                    </p:set>
                                    <p:animEffect transition="in" filter="fade">
                                      <p:cBhvr>
                                        <p:cTn id="32" dur="1000"/>
                                        <p:tgtEl>
                                          <p:spTgt spid="393"/>
                                        </p:tgtEl>
                                      </p:cBhvr>
                                    </p:animEffect>
                                  </p:childTnLst>
                                </p:cTn>
                              </p:par>
                              <p:par>
                                <p:cTn id="33" presetID="64" presetClass="path" presetSubtype="0" accel="50000" decel="50000" fill="hold" nodeType="withEffect">
                                  <p:stCondLst>
                                    <p:cond delay="1000"/>
                                  </p:stCondLst>
                                  <p:childTnLst>
                                    <p:animMotion origin="layout" path="M 1.6291937E-06 0.046295732 L 1.6291937E-06 -5.6514034E-07 E" pathEditMode="relative" ptsTypes="">
                                      <p:cBhvr>
                                        <p:cTn id="34" dur="1000" fill="hold"/>
                                        <p:tgtEl>
                                          <p:spTgt spid="393"/>
                                        </p:tgtEl>
                                        <p:attrNameLst>
                                          <p:attrName>ppt_x</p:attrName>
                                          <p:attrName>ppt_y</p:attrName>
                                        </p:attrNameLst>
                                      </p:cBhvr>
                                    </p:animMotion>
                                  </p:childTnLst>
                                </p:cTn>
                              </p:par>
                              <p:par>
                                <p:cTn id="35" presetID="10" presetClass="entr" presetSubtype="0" accel="50000" decel="50000" fill="hold" nodeType="withEffect">
                                  <p:stCondLst>
                                    <p:cond delay="1140"/>
                                  </p:stCondLst>
                                  <p:childTnLst>
                                    <p:set>
                                      <p:cBhvr>
                                        <p:cTn id="36" dur="1" fill="hold">
                                          <p:stCondLst>
                                            <p:cond delay="0"/>
                                          </p:stCondLst>
                                        </p:cTn>
                                        <p:tgtEl>
                                          <p:spTgt spid="399"/>
                                        </p:tgtEl>
                                        <p:attrNameLst>
                                          <p:attrName>style.visibility</p:attrName>
                                        </p:attrNameLst>
                                      </p:cBhvr>
                                      <p:to>
                                        <p:strVal val="visible"/>
                                      </p:to>
                                    </p:set>
                                    <p:animEffect transition="in" filter="fade">
                                      <p:cBhvr>
                                        <p:cTn id="37" dur="1000"/>
                                        <p:tgtEl>
                                          <p:spTgt spid="399"/>
                                        </p:tgtEl>
                                      </p:cBhvr>
                                    </p:animEffect>
                                  </p:childTnLst>
                                </p:cTn>
                              </p:par>
                              <p:par>
                                <p:cTn id="38" presetID="64" presetClass="path" presetSubtype="0" accel="50000" decel="50000" fill="hold" nodeType="withEffect">
                                  <p:stCondLst>
                                    <p:cond delay="1140"/>
                                  </p:stCondLst>
                                  <p:childTnLst>
                                    <p:animMotion origin="layout" path="M 0 0.046293978 L 0 -2.3170753E-06 E" pathEditMode="relative" ptsTypes="">
                                      <p:cBhvr>
                                        <p:cTn id="39" dur="1000" fill="hold"/>
                                        <p:tgtEl>
                                          <p:spTgt spid="399"/>
                                        </p:tgtEl>
                                        <p:attrNameLst>
                                          <p:attrName>ppt_x</p:attrName>
                                          <p:attrName>ppt_y</p:attrName>
                                        </p:attrNameLst>
                                      </p:cBhvr>
                                    </p:animMotion>
                                  </p:childTnLst>
                                </p:cTn>
                              </p:par>
                              <p:par>
                                <p:cTn id="40" presetID="10" presetClass="entr" presetSubtype="0" accel="50000" decel="50000" fill="hold" nodeType="withEffect">
                                  <p:stCondLst>
                                    <p:cond delay="1140"/>
                                  </p:stCondLst>
                                  <p:childTnLst>
                                    <p:set>
                                      <p:cBhvr>
                                        <p:cTn id="41" dur="1" fill="hold">
                                          <p:stCondLst>
                                            <p:cond delay="0"/>
                                          </p:stCondLst>
                                        </p:cTn>
                                        <p:tgtEl>
                                          <p:spTgt spid="401"/>
                                        </p:tgtEl>
                                        <p:attrNameLst>
                                          <p:attrName>style.visibility</p:attrName>
                                        </p:attrNameLst>
                                      </p:cBhvr>
                                      <p:to>
                                        <p:strVal val="visible"/>
                                      </p:to>
                                    </p:set>
                                    <p:animEffect transition="in" filter="fade">
                                      <p:cBhvr>
                                        <p:cTn id="42" dur="1000"/>
                                        <p:tgtEl>
                                          <p:spTgt spid="401"/>
                                        </p:tgtEl>
                                      </p:cBhvr>
                                    </p:animEffect>
                                  </p:childTnLst>
                                </p:cTn>
                              </p:par>
                              <p:par>
                                <p:cTn id="43" presetID="64" presetClass="path" presetSubtype="0" accel="50000" decel="50000" fill="hold" nodeType="withEffect">
                                  <p:stCondLst>
                                    <p:cond delay="1140"/>
                                  </p:stCondLst>
                                  <p:childTnLst>
                                    <p:animMotion origin="layout" path="M 1.6291937E-06 0.046300367 L 1.6291937E-06 4.0690106E-06 E" pathEditMode="relative" ptsTypes="">
                                      <p:cBhvr>
                                        <p:cTn id="44" dur="1000" fill="hold"/>
                                        <p:tgtEl>
                                          <p:spTgt spid="401"/>
                                        </p:tgtEl>
                                        <p:attrNameLst>
                                          <p:attrName>ppt_x</p:attrName>
                                          <p:attrName>ppt_y</p:attrName>
                                        </p:attrNameLst>
                                      </p:cBhvr>
                                    </p:animMotion>
                                  </p:childTnLst>
                                </p:cTn>
                              </p:par>
                              <p:par>
                                <p:cTn id="45" presetID="10" presetClass="entr" presetSubtype="0" accel="50000" decel="50000" fill="hold" nodeType="withEffect">
                                  <p:stCondLst>
                                    <p:cond delay="1280"/>
                                  </p:stCondLst>
                                  <p:childTnLst>
                                    <p:set>
                                      <p:cBhvr>
                                        <p:cTn id="46" dur="1" fill="hold">
                                          <p:stCondLst>
                                            <p:cond delay="0"/>
                                          </p:stCondLst>
                                        </p:cTn>
                                        <p:tgtEl>
                                          <p:spTgt spid="407"/>
                                        </p:tgtEl>
                                        <p:attrNameLst>
                                          <p:attrName>style.visibility</p:attrName>
                                        </p:attrNameLst>
                                      </p:cBhvr>
                                      <p:to>
                                        <p:strVal val="visible"/>
                                      </p:to>
                                    </p:set>
                                    <p:animEffect transition="in" filter="fade">
                                      <p:cBhvr>
                                        <p:cTn id="47" dur="1000"/>
                                        <p:tgtEl>
                                          <p:spTgt spid="407"/>
                                        </p:tgtEl>
                                      </p:cBhvr>
                                    </p:animEffect>
                                  </p:childTnLst>
                                </p:cTn>
                              </p:par>
                              <p:par>
                                <p:cTn id="48" presetID="64" presetClass="path" presetSubtype="0" accel="50000" decel="50000" fill="hold" nodeType="withEffect">
                                  <p:stCondLst>
                                    <p:cond delay="1280"/>
                                  </p:stCondLst>
                                  <p:childTnLst>
                                    <p:animMotion origin="layout" path="M 0 0.046298612 L 0 2.3170753E-06 E" pathEditMode="relative" ptsTypes="">
                                      <p:cBhvr>
                                        <p:cTn id="49" dur="1000" fill="hold"/>
                                        <p:tgtEl>
                                          <p:spTgt spid="407"/>
                                        </p:tgtEl>
                                        <p:attrNameLst>
                                          <p:attrName>ppt_x</p:attrName>
                                          <p:attrName>ppt_y</p:attrName>
                                        </p:attrNameLst>
                                      </p:cBhvr>
                                    </p:animMotion>
                                  </p:childTnLst>
                                </p:cTn>
                              </p:par>
                              <p:par>
                                <p:cTn id="50" presetID="10" presetClass="entr" presetSubtype="0" accel="50000" decel="50000" fill="hold" nodeType="withEffect">
                                  <p:stCondLst>
                                    <p:cond delay="1280"/>
                                  </p:stCondLst>
                                  <p:childTnLst>
                                    <p:set>
                                      <p:cBhvr>
                                        <p:cTn id="51" dur="1" fill="hold">
                                          <p:stCondLst>
                                            <p:cond delay="0"/>
                                          </p:stCondLst>
                                        </p:cTn>
                                        <p:tgtEl>
                                          <p:spTgt spid="409"/>
                                        </p:tgtEl>
                                        <p:attrNameLst>
                                          <p:attrName>style.visibility</p:attrName>
                                        </p:attrNameLst>
                                      </p:cBhvr>
                                      <p:to>
                                        <p:strVal val="visible"/>
                                      </p:to>
                                    </p:set>
                                    <p:animEffect transition="in" filter="fade">
                                      <p:cBhvr>
                                        <p:cTn id="52" dur="1000"/>
                                        <p:tgtEl>
                                          <p:spTgt spid="409"/>
                                        </p:tgtEl>
                                      </p:cBhvr>
                                    </p:animEffect>
                                  </p:childTnLst>
                                </p:cTn>
                              </p:par>
                              <p:par>
                                <p:cTn id="53" presetID="64" presetClass="path" presetSubtype="0" accel="50000" decel="50000" fill="hold" nodeType="withEffect">
                                  <p:stCondLst>
                                    <p:cond delay="1280"/>
                                  </p:stCondLst>
                                  <p:childTnLst>
                                    <p:animMotion origin="layout" path="M 1.6291937E-06 0.046295732 L 1.6291937E-06 -5.6514034E-07 E" pathEditMode="relative" ptsTypes="">
                                      <p:cBhvr>
                                        <p:cTn id="54" dur="1000" fill="hold"/>
                                        <p:tgtEl>
                                          <p:spTgt spid="409"/>
                                        </p:tgtEl>
                                        <p:attrNameLst>
                                          <p:attrName>ppt_x</p:attrName>
                                          <p:attrName>ppt_y</p:attrName>
                                        </p:attrNameLst>
                                      </p:cBhvr>
                                    </p:animMotion>
                                  </p:childTnLst>
                                </p:cTn>
                              </p:par>
                              <p:par>
                                <p:cTn id="55" presetID="10" presetClass="entr" presetSubtype="0" accel="50000" decel="50000" fill="hold" nodeType="withEffect">
                                  <p:stCondLst>
                                    <p:cond delay="1840"/>
                                  </p:stCondLst>
                                  <p:childTnLst>
                                    <p:set>
                                      <p:cBhvr>
                                        <p:cTn id="56" dur="1" fill="hold">
                                          <p:stCondLst>
                                            <p:cond delay="0"/>
                                          </p:stCondLst>
                                        </p:cTn>
                                        <p:tgtEl>
                                          <p:spTgt spid="441"/>
                                        </p:tgtEl>
                                        <p:attrNameLst>
                                          <p:attrName>style.visibility</p:attrName>
                                        </p:attrNameLst>
                                      </p:cBhvr>
                                      <p:to>
                                        <p:strVal val="visible"/>
                                      </p:to>
                                    </p:set>
                                    <p:animEffect transition="in" filter="fade">
                                      <p:cBhvr>
                                        <p:cTn id="57" dur="1000"/>
                                        <p:tgtEl>
                                          <p:spTgt spid="441"/>
                                        </p:tgtEl>
                                      </p:cBhvr>
                                    </p:animEffect>
                                  </p:childTnLst>
                                </p:cTn>
                              </p:par>
                              <p:par>
                                <p:cTn id="58" presetID="64" presetClass="path" presetSubtype="0" accel="50000" decel="50000" fill="hold" nodeType="withEffect">
                                  <p:stCondLst>
                                    <p:cond delay="1840"/>
                                  </p:stCondLst>
                                  <p:childTnLst>
                                    <p:animMotion origin="layout" path="M 1.6212464E-06 0.046295732 L 1.6212464E-06 -5.6514034E-07 E" pathEditMode="relative" ptsTypes="">
                                      <p:cBhvr>
                                        <p:cTn id="59" dur="1000" fill="hold"/>
                                        <p:tgtEl>
                                          <p:spTgt spid="441"/>
                                        </p:tgtEl>
                                        <p:attrNameLst>
                                          <p:attrName>ppt_x</p:attrName>
                                          <p:attrName>ppt_y</p:attrName>
                                        </p:attrNameLst>
                                      </p:cBhvr>
                                    </p:animMotion>
                                  </p:childTnLst>
                                </p:cTn>
                              </p:par>
                              <p:par>
                                <p:cTn id="60" presetID="10" presetClass="entr" presetSubtype="0" accel="50000" decel="50000" fill="hold" nodeType="withEffect">
                                  <p:stCondLst>
                                    <p:cond delay="300"/>
                                  </p:stCondLst>
                                  <p:childTnLst>
                                    <p:set>
                                      <p:cBhvr>
                                        <p:cTn id="61" dur="1" fill="hold">
                                          <p:stCondLst>
                                            <p:cond delay="0"/>
                                          </p:stCondLst>
                                        </p:cTn>
                                        <p:tgtEl>
                                          <p:spTgt spid="447"/>
                                        </p:tgtEl>
                                        <p:attrNameLst>
                                          <p:attrName>style.visibility</p:attrName>
                                        </p:attrNameLst>
                                      </p:cBhvr>
                                      <p:to>
                                        <p:strVal val="visible"/>
                                      </p:to>
                                    </p:set>
                                    <p:animEffect transition="in" filter="fade">
                                      <p:cBhvr>
                                        <p:cTn id="62" dur="600"/>
                                        <p:tgtEl>
                                          <p:spTgt spid="447"/>
                                        </p:tgtEl>
                                      </p:cBhvr>
                                    </p:animEffect>
                                  </p:childTnLst>
                                </p:cTn>
                              </p:par>
                              <p:par>
                                <p:cTn id="63" presetID="64" presetClass="path" presetSubtype="0" accel="50000" decel="50000" fill="hold" nodeType="withEffect">
                                  <p:stCondLst>
                                    <p:cond delay="300"/>
                                  </p:stCondLst>
                                  <p:childTnLst>
                                    <p:animMotion origin="layout" path="M 0 0.04629225 L 0 -4.0478176E-06 E" pathEditMode="relative" ptsTypes="">
                                      <p:cBhvr>
                                        <p:cTn id="64" dur="600" fill="hold"/>
                                        <p:tgtEl>
                                          <p:spTgt spid="44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3" grpId="0"/>
      <p:bldP spid="385" grpId="0"/>
      <p:bldP spid="387" grpId="0"/>
      <p:bldP spid="389" grpId="0"/>
      <p:bldP spid="391" grpId="0"/>
      <p:bldP spid="393" grpId="0"/>
      <p:bldP spid="399" grpId="0"/>
      <p:bldP spid="401" grpId="0"/>
      <p:bldP spid="407" grpId="0"/>
      <p:bldP spid="409" grpId="0"/>
      <p:bldP spid="441" grpId="0"/>
      <p:bldP spid="4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226373"/>
            <a:ext cx="18288000" cy="10287000"/>
          </a:xfrm>
          <a:prstGeom prst="rect">
            <a:avLst/>
          </a:prstGeom>
        </p:spPr>
      </p:pic>
      <p:pic>
        <p:nvPicPr>
          <p:cNvPr id="4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1714500"/>
            <a:ext cx="8572500" cy="8572500"/>
          </a:xfrm>
          <a:prstGeom prst="rect">
            <a:avLst/>
          </a:prstGeom>
        </p:spPr>
      </p:pic>
      <p:pic>
        <p:nvPicPr>
          <p:cNvPr id="458" name="layoutShapeInnerChild8">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EF614191-4A63-4084-8F34-7B577D4012EB}">
                <asvg:svgBlip xmlns:asvg="http://schemas.microsoft.com/office/drawing/2016/SVG/main" xmlns:p14="http://schemas.microsoft.com/office/powerpoint/2010/main" xmlns:a14="http://schemas.microsoft.com/office/drawing/2010/main" xmlns:a16="http://schemas.microsoft.com/office/drawing/2014/main" xmlns="" r:embed="rId9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040511"/>
            <a:ext cx="6217890" cy="5246489"/>
          </a:xfrm>
          <a:prstGeom prst="rect">
            <a:avLst/>
          </a:prstGeom>
        </p:spPr>
      </p:pic>
      <p:pic>
        <p:nvPicPr>
          <p:cNvPr id="4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5">
            <a:alphaModFix/>
          </a:blip>
          <a:stretch/>
        </p:blipFill>
        <p:spPr>
          <a:xfrm>
            <a:off x="6183600" y="3138718"/>
            <a:ext cx="10134600" cy="1580120"/>
          </a:xfrm>
          <a:prstGeom prst="rect">
            <a:avLst/>
          </a:prstGeom>
        </p:spPr>
      </p:pic>
      <p:pic>
        <p:nvPicPr>
          <p:cNvPr id="4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6">
            <a:alphaModFix/>
          </a:blip>
          <a:stretch/>
        </p:blipFill>
        <p:spPr>
          <a:xfrm>
            <a:off x="6183600" y="5384697"/>
            <a:ext cx="10134600" cy="1327224"/>
          </a:xfrm>
          <a:prstGeom prst="rect">
            <a:avLst/>
          </a:prstGeom>
        </p:spPr>
      </p:pic>
      <p:pic>
        <p:nvPicPr>
          <p:cNvPr id="4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7">
            <a:alphaModFix/>
          </a:blip>
          <a:stretch/>
        </p:blipFill>
        <p:spPr>
          <a:xfrm>
            <a:off x="6217890" y="7180429"/>
            <a:ext cx="10134600" cy="1327224"/>
          </a:xfrm>
          <a:prstGeom prst="rect">
            <a:avLst/>
          </a:prstGeom>
        </p:spPr>
      </p:pic>
      <p:sp>
        <p:nvSpPr>
          <p:cNvPr id="496" name="Click here to edit title-453">
            <a:extLst>
              <a:ext uri="{FF2B5EF4-FFF2-40B4-BE49-F238E27FC236}">
                <a16:creationId xmlns:a16="http://schemas.microsoft.com/office/drawing/2014/main" id="{111B4A49-B930-4A89-A1CD-6CA2B3D95AED}"/>
              </a:ext>
            </a:extLst>
          </p:cNvPr>
          <p:cNvSpPr txBox="1"/>
          <p:nvPr/>
        </p:nvSpPr>
        <p:spPr>
          <a:xfrm>
            <a:off x="624840" y="1034827"/>
            <a:ext cx="6105525" cy="688137"/>
          </a:xfrm>
          <a:prstGeom prst="rect">
            <a:avLst/>
          </a:prstGeom>
          <a:noFill/>
        </p:spPr>
        <p:txBody>
          <a:bodyPr vertOverflow="clip" horzOverflow="clip" wrap="square" lIns="0" tIns="0" rIns="0" bIns="0" rtlCol="0" anchor="t">
            <a:spAutoFit/>
          </a:bodyPr>
          <a:lstStyle/>
          <a:p>
            <a:pPr>
              <a:lnSpc>
                <a:spcPts val="5292"/>
              </a:lnSpc>
            </a:pPr>
            <a:r>
              <a:rPr lang="en-IN" sz="5400" dirty="0">
                <a:latin typeface="Times New Roman" panose="02020603050405020304" pitchFamily="18" charset="0"/>
                <a:cs typeface="Times New Roman" panose="02020603050405020304" pitchFamily="18" charset="0"/>
              </a:rPr>
              <a:t>Proposed System :</a:t>
            </a:r>
            <a:endParaRPr lang="en-US" sz="4800"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0F83E71-0667-5FA1-EF1C-127B8D8813FF}"/>
              </a:ext>
            </a:extLst>
          </p:cNvPr>
          <p:cNvSpPr txBox="1"/>
          <p:nvPr/>
        </p:nvSpPr>
        <p:spPr>
          <a:xfrm>
            <a:off x="6431250" y="3307814"/>
            <a:ext cx="9639300" cy="120032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cs typeface="Times New Roman" panose="02020603050405020304" pitchFamily="18" charset="0"/>
              </a:rPr>
              <a:t>AI-powered smart navigation.</a:t>
            </a:r>
          </a:p>
          <a:p>
            <a:pPr marL="396875" indent="-168275">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AI-Based Route Optimization</a:t>
            </a:r>
            <a:r>
              <a:rPr lang="en-US" sz="2400" dirty="0"/>
              <a:t> – </a:t>
            </a:r>
            <a:r>
              <a:rPr lang="en-US" sz="2400" dirty="0">
                <a:latin typeface="Times New Roman" panose="02020603050405020304" pitchFamily="18" charset="0"/>
                <a:cs typeface="Times New Roman" panose="02020603050405020304" pitchFamily="18" charset="0"/>
              </a:rPr>
              <a:t>Uses real-time data and AI algorithms to optimize flight paths, ensuring fast and efficient medical supply delivery.</a:t>
            </a:r>
          </a:p>
        </p:txBody>
      </p:sp>
      <p:sp>
        <p:nvSpPr>
          <p:cNvPr id="5" name="TextBox 4">
            <a:extLst>
              <a:ext uri="{FF2B5EF4-FFF2-40B4-BE49-F238E27FC236}">
                <a16:creationId xmlns:a16="http://schemas.microsoft.com/office/drawing/2014/main" id="{F1EE9E16-242C-F9EE-145D-172C2979E46B}"/>
              </a:ext>
            </a:extLst>
          </p:cNvPr>
          <p:cNvSpPr txBox="1"/>
          <p:nvPr/>
        </p:nvSpPr>
        <p:spPr>
          <a:xfrm>
            <a:off x="6431250" y="5538114"/>
            <a:ext cx="9753630"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2. Real-Time Obstacle Avoidance – Equipped with sensors and AI-driven path correction to detect and avoid obstacles for safe and precise navigation.</a:t>
            </a:r>
          </a:p>
        </p:txBody>
      </p:sp>
      <p:sp>
        <p:nvSpPr>
          <p:cNvPr id="6" name="TextBox 5">
            <a:extLst>
              <a:ext uri="{FF2B5EF4-FFF2-40B4-BE49-F238E27FC236}">
                <a16:creationId xmlns:a16="http://schemas.microsoft.com/office/drawing/2014/main" id="{F24F011F-FDB4-2ECD-F71D-8D6B78AA16B8}"/>
              </a:ext>
            </a:extLst>
          </p:cNvPr>
          <p:cNvSpPr txBox="1"/>
          <p:nvPr/>
        </p:nvSpPr>
        <p:spPr>
          <a:xfrm>
            <a:off x="6560820" y="7380128"/>
            <a:ext cx="9624060"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3. AI-Powered Gesture Recognition – Uses Convolutional Neural Networks (CNNs) to interpret hand gestures, enabling intuitive and contactless drone control.</a:t>
            </a:r>
          </a:p>
        </p:txBody>
      </p:sp>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456"/>
                                        </p:tgtEl>
                                        <p:attrNameLst>
                                          <p:attrName>style.visibility</p:attrName>
                                        </p:attrNameLst>
                                      </p:cBhvr>
                                      <p:to>
                                        <p:strVal val="visible"/>
                                      </p:to>
                                    </p:set>
                                    <p:animEffect transition="in" filter="fade">
                                      <p:cBhvr>
                                        <p:cTn id="7" dur="1200"/>
                                        <p:tgtEl>
                                          <p:spTgt spid="45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45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458"/>
                                        </p:tgtEl>
                                        <p:attrNameLst>
                                          <p:attrName>style.visibility</p:attrName>
                                        </p:attrNameLst>
                                      </p:cBhvr>
                                      <p:to>
                                        <p:strVal val="visible"/>
                                      </p:to>
                                    </p:set>
                                    <p:animEffect transition="in" filter="fade">
                                      <p:cBhvr>
                                        <p:cTn id="12" dur="1200"/>
                                        <p:tgtEl>
                                          <p:spTgt spid="458"/>
                                        </p:tgtEl>
                                      </p:cBhvr>
                                    </p:animEffect>
                                  </p:childTnLst>
                                </p:cTn>
                              </p:par>
                              <p:par>
                                <p:cTn id="13" presetID="64" presetClass="path" presetSubtype="0" accel="50000" decel="50000" fill="hold" nodeType="withEffect">
                                  <p:stCondLst>
                                    <p:cond delay="0"/>
                                  </p:stCondLst>
                                  <p:childTnLst>
                                    <p:animMotion origin="layout" path="M -1.9550323E-06 0.07407696 L -1.9550323E-06 2.8822158E-06 E" pathEditMode="relative" ptsTypes="">
                                      <p:cBhvr>
                                        <p:cTn id="14" dur="1200" fill="hold"/>
                                        <p:tgtEl>
                                          <p:spTgt spid="458"/>
                                        </p:tgtEl>
                                        <p:attrNameLst>
                                          <p:attrName>ppt_x</p:attrName>
                                          <p:attrName>ppt_y</p:attrName>
                                        </p:attrNameLst>
                                      </p:cBhvr>
                                    </p:animMotion>
                                  </p:childTnLst>
                                </p:cTn>
                              </p:par>
                              <p:par>
                                <p:cTn id="15" presetID="10" presetClass="entr" presetSubtype="0" accel="50000" decel="50000" fill="hold" nodeType="withEffect">
                                  <p:stCondLst>
                                    <p:cond delay="1000"/>
                                  </p:stCondLst>
                                  <p:childTnLst>
                                    <p:set>
                                      <p:cBhvr>
                                        <p:cTn id="16" dur="1" fill="hold">
                                          <p:stCondLst>
                                            <p:cond delay="0"/>
                                          </p:stCondLst>
                                        </p:cTn>
                                        <p:tgtEl>
                                          <p:spTgt spid="460"/>
                                        </p:tgtEl>
                                        <p:attrNameLst>
                                          <p:attrName>style.visibility</p:attrName>
                                        </p:attrNameLst>
                                      </p:cBhvr>
                                      <p:to>
                                        <p:strVal val="visible"/>
                                      </p:to>
                                    </p:set>
                                    <p:animEffect transition="in" filter="fade">
                                      <p:cBhvr>
                                        <p:cTn id="17" dur="1000"/>
                                        <p:tgtEl>
                                          <p:spTgt spid="460"/>
                                        </p:tgtEl>
                                      </p:cBhvr>
                                    </p:animEffect>
                                  </p:childTnLst>
                                </p:cTn>
                              </p:par>
                              <p:par>
                                <p:cTn id="18" presetID="64" presetClass="path" presetSubtype="0" accel="50000" decel="50000" fill="hold" nodeType="withEffect">
                                  <p:stCondLst>
                                    <p:cond delay="1000"/>
                                  </p:stCondLst>
                                  <p:childTnLst>
                                    <p:animMotion origin="layout" path="M 0 0.046296295 L 0 0 E" pathEditMode="relative" ptsTypes="">
                                      <p:cBhvr>
                                        <p:cTn id="19" dur="1000" fill="hold"/>
                                        <p:tgtEl>
                                          <p:spTgt spid="460"/>
                                        </p:tgtEl>
                                        <p:attrNameLst>
                                          <p:attrName>ppt_x</p:attrName>
                                          <p:attrName>ppt_y</p:attrName>
                                        </p:attrNameLst>
                                      </p:cBhvr>
                                    </p:animMotion>
                                  </p:childTnLst>
                                </p:cTn>
                              </p:par>
                              <p:par>
                                <p:cTn id="20" presetID="10" presetClass="entr" presetSubtype="0" accel="50000" decel="50000" fill="hold" nodeType="withEffect">
                                  <p:stCondLst>
                                    <p:cond delay="1140"/>
                                  </p:stCondLst>
                                  <p:childTnLst>
                                    <p:set>
                                      <p:cBhvr>
                                        <p:cTn id="21" dur="1" fill="hold">
                                          <p:stCondLst>
                                            <p:cond delay="0"/>
                                          </p:stCondLst>
                                        </p:cTn>
                                        <p:tgtEl>
                                          <p:spTgt spid="472"/>
                                        </p:tgtEl>
                                        <p:attrNameLst>
                                          <p:attrName>style.visibility</p:attrName>
                                        </p:attrNameLst>
                                      </p:cBhvr>
                                      <p:to>
                                        <p:strVal val="visible"/>
                                      </p:to>
                                    </p:set>
                                    <p:animEffect transition="in" filter="fade">
                                      <p:cBhvr>
                                        <p:cTn id="22" dur="1000"/>
                                        <p:tgtEl>
                                          <p:spTgt spid="472"/>
                                        </p:tgtEl>
                                      </p:cBhvr>
                                    </p:animEffect>
                                  </p:childTnLst>
                                </p:cTn>
                              </p:par>
                              <p:par>
                                <p:cTn id="23" presetID="64" presetClass="path" presetSubtype="0" accel="50000" decel="50000" fill="hold" nodeType="withEffect">
                                  <p:stCondLst>
                                    <p:cond delay="1140"/>
                                  </p:stCondLst>
                                  <p:childTnLst>
                                    <p:animMotion origin="layout" path="M 0 0.04629977 L 0 3.475613E-06 E" pathEditMode="relative" ptsTypes="">
                                      <p:cBhvr>
                                        <p:cTn id="24" dur="1000" fill="hold"/>
                                        <p:tgtEl>
                                          <p:spTgt spid="472"/>
                                        </p:tgtEl>
                                        <p:attrNameLst>
                                          <p:attrName>ppt_x</p:attrName>
                                          <p:attrName>ppt_y</p:attrName>
                                        </p:attrNameLst>
                                      </p:cBhvr>
                                    </p:animMotion>
                                  </p:childTnLst>
                                </p:cTn>
                              </p:par>
                              <p:par>
                                <p:cTn id="25" presetID="10" presetClass="entr" presetSubtype="0" accel="50000" decel="50000" fill="hold" nodeType="withEffect">
                                  <p:stCondLst>
                                    <p:cond delay="1280"/>
                                  </p:stCondLst>
                                  <p:childTnLst>
                                    <p:set>
                                      <p:cBhvr>
                                        <p:cTn id="26" dur="1" fill="hold">
                                          <p:stCondLst>
                                            <p:cond delay="0"/>
                                          </p:stCondLst>
                                        </p:cTn>
                                        <p:tgtEl>
                                          <p:spTgt spid="484"/>
                                        </p:tgtEl>
                                        <p:attrNameLst>
                                          <p:attrName>style.visibility</p:attrName>
                                        </p:attrNameLst>
                                      </p:cBhvr>
                                      <p:to>
                                        <p:strVal val="visible"/>
                                      </p:to>
                                    </p:set>
                                    <p:animEffect transition="in" filter="fade">
                                      <p:cBhvr>
                                        <p:cTn id="27" dur="1000"/>
                                        <p:tgtEl>
                                          <p:spTgt spid="484"/>
                                        </p:tgtEl>
                                      </p:cBhvr>
                                    </p:animEffect>
                                  </p:childTnLst>
                                </p:cTn>
                              </p:par>
                              <p:par>
                                <p:cTn id="28" presetID="64" presetClass="path" presetSubtype="0" accel="50000" decel="50000" fill="hold" nodeType="withEffect">
                                  <p:stCondLst>
                                    <p:cond delay="1280"/>
                                  </p:stCondLst>
                                  <p:childTnLst>
                                    <p:animMotion origin="layout" path="M 0 0.046293978 L 0 -2.3170753E-06 E" pathEditMode="relative" ptsTypes="">
                                      <p:cBhvr>
                                        <p:cTn id="29" dur="1000" fill="hold"/>
                                        <p:tgtEl>
                                          <p:spTgt spid="484"/>
                                        </p:tgtEl>
                                        <p:attrNameLst>
                                          <p:attrName>ppt_x</p:attrName>
                                          <p:attrName>ppt_y</p:attrName>
                                        </p:attrNameLst>
                                      </p:cBhvr>
                                    </p:animMotion>
                                  </p:childTnLst>
                                </p:cTn>
                              </p:par>
                              <p:par>
                                <p:cTn id="30" presetID="10" presetClass="entr" presetSubtype="0" accel="50000" decel="50000" fill="hold" nodeType="withEffect">
                                  <p:stCondLst>
                                    <p:cond delay="300"/>
                                  </p:stCondLst>
                                  <p:childTnLst>
                                    <p:set>
                                      <p:cBhvr>
                                        <p:cTn id="31" dur="1" fill="hold">
                                          <p:stCondLst>
                                            <p:cond delay="0"/>
                                          </p:stCondLst>
                                        </p:cTn>
                                        <p:tgtEl>
                                          <p:spTgt spid="496"/>
                                        </p:tgtEl>
                                        <p:attrNameLst>
                                          <p:attrName>style.visibility</p:attrName>
                                        </p:attrNameLst>
                                      </p:cBhvr>
                                      <p:to>
                                        <p:strVal val="visible"/>
                                      </p:to>
                                    </p:set>
                                    <p:animEffect transition="in" filter="fade">
                                      <p:cBhvr>
                                        <p:cTn id="32" dur="600"/>
                                        <p:tgtEl>
                                          <p:spTgt spid="496"/>
                                        </p:tgtEl>
                                      </p:cBhvr>
                                    </p:animEffect>
                                  </p:childTnLst>
                                </p:cTn>
                              </p:par>
                              <p:par>
                                <p:cTn id="33" presetID="64" presetClass="path" presetSubtype="0" accel="50000" decel="50000" fill="hold" nodeType="withEffect">
                                  <p:stCondLst>
                                    <p:cond delay="300"/>
                                  </p:stCondLst>
                                  <p:childTnLst>
                                    <p:animMotion origin="layout" path="M 0 0.046296295 L 0 0 E" pathEditMode="relative" ptsTypes="">
                                      <p:cBhvr>
                                        <p:cTn id="34" dur="600" fill="hold"/>
                                        <p:tgtEl>
                                          <p:spTgt spid="49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 grpId="0"/>
      <p:bldP spid="458" grpId="0"/>
      <p:bldP spid="460" grpId="0"/>
      <p:bldP spid="472" grpId="0"/>
      <p:bldP spid="484" grpId="0"/>
      <p:bldP spid="49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DD72C-E2BD-C8C5-E9ED-4AAA6A90FB9A}"/>
            </a:ext>
          </a:extLst>
        </p:cNvPr>
        <p:cNvGrpSpPr/>
        <p:nvPr/>
      </p:nvGrpSpPr>
      <p:grpSpPr>
        <a:xfrm>
          <a:off x="0" y="0"/>
          <a:ext cx="0" cy="0"/>
          <a:chOff x="0" y="0"/>
          <a:chExt cx="0" cy="0"/>
        </a:xfrm>
      </p:grpSpPr>
      <p:pic>
        <p:nvPicPr>
          <p:cNvPr id="316" name="Rect">
            <a:extLst>
              <a:ext uri="{FF2B5EF4-FFF2-40B4-BE49-F238E27FC236}">
                <a16:creationId xmlns:a16="http://schemas.microsoft.com/office/drawing/2014/main" id="{7D8C6B8D-5A83-1031-6189-78ECE4382817}"/>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39C69B0D-ABC7-FBAE-0D5A-74329FF185E2}"/>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6E09F170-A5DA-94CD-B2EF-7D0F5B2D939B}"/>
              </a:ext>
            </a:extLst>
          </p:cNvPr>
          <p:cNvPicPr>
            <a:picLocks noChangeAspect="1"/>
          </p:cNvPicPr>
          <p:nvPr/>
        </p:nvPicPr>
        <p:blipFill rotWithShape="1">
          <a:blip r:embed="rId4">
            <a:alphaModFix/>
            <a:extLst>
              <a:ext uri="{D447D3F8-93D1-453B-83F5-75E1A01F88BF}">
                <asvg:svgBlip xmlns:asvg="http://schemas.microsoft.com/office/drawing/2016/SVG/main" xmlns:p14="http://schemas.microsoft.com/office/powerpoint/2010/main" xmlns:a14="http://schemas.microsoft.com/office/drawing/2010/main" xmlns:a16="http://schemas.microsoft.com/office/drawing/2014/main" xmlns="" r:embed="rId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1265CE43-A064-7ABC-318D-D62A4AC1AE94}"/>
              </a:ext>
            </a:extLst>
          </p:cNvPr>
          <p:cNvPicPr>
            <a:picLocks noChangeAspect="1"/>
          </p:cNvPicPr>
          <p:nvPr/>
        </p:nvPicPr>
        <p:blipFill rotWithShape="1">
          <a:blip r:embed="rId25">
            <a:alphaModFix/>
            <a:extLst>
              <a:ext uri="{2D28C7F6-BB24-4A95-BEB7-42B481537082}">
                <asvg:svgBlip xmlns:asvg="http://schemas.microsoft.com/office/drawing/2016/SVG/main" xmlns:p14="http://schemas.microsoft.com/office/powerpoint/2010/main" xmlns:a14="http://schemas.microsoft.com/office/drawing/2010/main" xmlns:a16="http://schemas.microsoft.com/office/drawing/2014/main" xmlns="" r:embed="rId27"/>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8A2E3413-C6E7-0703-2DF3-8436626083D1}"/>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58F68820-78F6-3032-5304-4237C5E1977E}"/>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04D013FA-D666-E62E-67DE-D3F8CFB7A558}"/>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1B28D078-0034-0210-03C0-D88ADA5AE2E0}"/>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pic>
        <p:nvPicPr>
          <p:cNvPr id="366" name="Rect">
            <a:extLst>
              <a:ext uri="{FF2B5EF4-FFF2-40B4-BE49-F238E27FC236}">
                <a16:creationId xmlns:a16="http://schemas.microsoft.com/office/drawing/2014/main" id="{654BFE35-DFEB-7C6A-CF2E-3A86B6AEB839}"/>
              </a:ext>
            </a:extLst>
          </p:cNvPr>
          <p:cNvPicPr>
            <a:picLocks noChangeAspect="1"/>
          </p:cNvPicPr>
          <p:nvPr/>
        </p:nvPicPr>
        <p:blipFill rotWithShape="1">
          <a:blip r:embed="rId28">
            <a:alphaModFix/>
          </a:blip>
          <a:stretch/>
        </p:blipFill>
        <p:spPr>
          <a:xfrm>
            <a:off x="1424168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846C6A85-039E-290F-E628-543726CFD1F2}"/>
              </a:ext>
            </a:extLst>
          </p:cNvPr>
          <p:cNvSpPr txBox="1"/>
          <p:nvPr/>
        </p:nvSpPr>
        <p:spPr>
          <a:xfrm>
            <a:off x="1409700" y="993172"/>
            <a:ext cx="15516225" cy="679673"/>
          </a:xfrm>
          <a:prstGeom prst="rect">
            <a:avLst/>
          </a:prstGeom>
          <a:noFill/>
        </p:spPr>
        <p:txBody>
          <a:bodyPr vertOverflow="clip" horzOverflow="clip" wrap="square" lIns="0" tIns="0" rIns="0" bIns="0" rtlCol="0" anchor="t">
            <a:spAutoFit/>
          </a:bodyPr>
          <a:lstStyle/>
          <a:p>
            <a:pPr algn="ctr">
              <a:lnSpc>
                <a:spcPts val="5292"/>
              </a:lnSpc>
            </a:pPr>
            <a:r>
              <a:rPr lang="en-IN" sz="4800" dirty="0">
                <a:latin typeface="Times New Roman" panose="02020603050405020304" pitchFamily="18" charset="0"/>
                <a:cs typeface="Times New Roman" panose="02020603050405020304" pitchFamily="18" charset="0"/>
              </a:rPr>
              <a:t>System Design &amp; Architecture</a:t>
            </a:r>
            <a:endParaRPr lang="en-US" sz="4400" b="1"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E8579C4-10FA-A0B7-0357-12511BDAF08C}"/>
              </a:ext>
            </a:extLst>
          </p:cNvPr>
          <p:cNvSpPr txBox="1"/>
          <p:nvPr/>
        </p:nvSpPr>
        <p:spPr>
          <a:xfrm>
            <a:off x="2119086" y="2347435"/>
            <a:ext cx="12134059" cy="4613571"/>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Navigation module: AI-based path optimization.</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Gesture control: CNN for hand gesture recognition.</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Communication: 5G &amp; Wi-Fi for real-time data exchange.</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Drone frame: Carbon Fiber, 1.5kg payload.</a:t>
            </a:r>
          </a:p>
        </p:txBody>
      </p:sp>
    </p:spTree>
    <p:extLst>
      <p:ext uri="{BB962C8B-B14F-4D97-AF65-F5344CB8AC3E}">
        <p14:creationId xmlns:p14="http://schemas.microsoft.com/office/powerpoint/2010/main" val="3296732304"/>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1560"/>
                                  </p:stCondLst>
                                  <p:childTnLst>
                                    <p:set>
                                      <p:cBhvr>
                                        <p:cTn id="46" dur="1" fill="hold">
                                          <p:stCondLst>
                                            <p:cond delay="0"/>
                                          </p:stCondLst>
                                        </p:cTn>
                                        <p:tgtEl>
                                          <p:spTgt spid="366"/>
                                        </p:tgtEl>
                                        <p:attrNameLst>
                                          <p:attrName>style.visibility</p:attrName>
                                        </p:attrNameLst>
                                      </p:cBhvr>
                                      <p:to>
                                        <p:strVal val="visible"/>
                                      </p:to>
                                    </p:set>
                                    <p:animEffect transition="in" filter="fade">
                                      <p:cBhvr>
                                        <p:cTn id="47" dur="1000"/>
                                        <p:tgtEl>
                                          <p:spTgt spid="366"/>
                                        </p:tgtEl>
                                      </p:cBhvr>
                                    </p:animEffect>
                                  </p:childTnLst>
                                </p:cTn>
                              </p:par>
                              <p:par>
                                <p:cTn id="48" presetID="64" presetClass="path" presetSubtype="0" accel="50000" decel="50000" fill="hold" nodeType="withEffect">
                                  <p:stCondLst>
                                    <p:cond delay="1560"/>
                                  </p:stCondLst>
                                  <p:childTnLst>
                                    <p:animMotion origin="layout" path="M -1.2715658E-06 0.046296295 L -1.2715658E-06 0 E" pathEditMode="relative" ptsTypes="">
                                      <p:cBhvr>
                                        <p:cTn id="49" dur="1000" fill="hold"/>
                                        <p:tgtEl>
                                          <p:spTgt spid="366"/>
                                        </p:tgtEl>
                                        <p:attrNameLst>
                                          <p:attrName>ppt_x</p:attrName>
                                          <p:attrName>ppt_y</p:attrName>
                                        </p:attrNameLst>
                                      </p:cBhvr>
                                    </p:animMotion>
                                  </p:childTnLst>
                                </p:cTn>
                              </p:par>
                              <p:par>
                                <p:cTn id="50" presetID="10" presetClass="entr" presetSubtype="0" accel="50000" decel="50000" fill="hold" nodeType="withEffect">
                                  <p:stCondLst>
                                    <p:cond delay="300"/>
                                  </p:stCondLst>
                                  <p:childTnLst>
                                    <p:set>
                                      <p:cBhvr>
                                        <p:cTn id="51" dur="1" fill="hold">
                                          <p:stCondLst>
                                            <p:cond delay="0"/>
                                          </p:stCondLst>
                                        </p:cTn>
                                        <p:tgtEl>
                                          <p:spTgt spid="374"/>
                                        </p:tgtEl>
                                        <p:attrNameLst>
                                          <p:attrName>style.visibility</p:attrName>
                                        </p:attrNameLst>
                                      </p:cBhvr>
                                      <p:to>
                                        <p:strVal val="visible"/>
                                      </p:to>
                                    </p:set>
                                    <p:animEffect transition="in" filter="fade">
                                      <p:cBhvr>
                                        <p:cTn id="52" dur="600"/>
                                        <p:tgtEl>
                                          <p:spTgt spid="374"/>
                                        </p:tgtEl>
                                      </p:cBhvr>
                                    </p:animEffect>
                                  </p:childTnLst>
                                </p:cTn>
                              </p:par>
                              <p:par>
                                <p:cTn id="53" presetID="64" presetClass="path" presetSubtype="0" accel="50000" decel="50000" fill="hold" nodeType="withEffect">
                                  <p:stCondLst>
                                    <p:cond delay="300"/>
                                  </p:stCondLst>
                                  <p:childTnLst>
                                    <p:animMotion origin="layout" path="M 0 0.04629225 L 0 -4.0478176E-06 E" pathEditMode="relative" ptsTypes="">
                                      <p:cBhvr>
                                        <p:cTn id="54"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66" grpId="0"/>
      <p:bldP spid="37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D6073-56C4-CE69-C182-57F597D2BBE1}"/>
            </a:ext>
          </a:extLst>
        </p:cNvPr>
        <p:cNvGrpSpPr/>
        <p:nvPr/>
      </p:nvGrpSpPr>
      <p:grpSpPr>
        <a:xfrm>
          <a:off x="0" y="0"/>
          <a:ext cx="0" cy="0"/>
          <a:chOff x="0" y="0"/>
          <a:chExt cx="0" cy="0"/>
        </a:xfrm>
      </p:grpSpPr>
      <p:pic>
        <p:nvPicPr>
          <p:cNvPr id="316" name="Rect">
            <a:extLst>
              <a:ext uri="{FF2B5EF4-FFF2-40B4-BE49-F238E27FC236}">
                <a16:creationId xmlns:a16="http://schemas.microsoft.com/office/drawing/2014/main" id="{9118A1E8-A679-1688-57C4-EE0B44774A88}"/>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0DE46948-0E83-55CC-4762-9D49631E1952}"/>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AE6F3CE7-240F-BB77-5C45-ABE330E9ABE0}"/>
              </a:ext>
            </a:extLst>
          </p:cNvPr>
          <p:cNvPicPr>
            <a:picLocks noChangeAspect="1"/>
          </p:cNvPicPr>
          <p:nvPr/>
        </p:nvPicPr>
        <p:blipFill rotWithShape="1">
          <a:blip r:embed="rId4">
            <a:alphaModFix/>
            <a:extLst>
              <a:ext uri="{D447D3F8-93D1-453B-83F5-75E1A01F88BF}">
                <asvg:svgBlip xmlns="" xmlns:a16="http://schemas.microsoft.com/office/drawing/2014/main" xmlns:a14="http://schemas.microsoft.com/office/drawing/2010/main" xmlns:p14="http://schemas.microsoft.com/office/powerpoint/2010/main" xmlns:asvg="http://schemas.microsoft.com/office/drawing/2016/SVG/main" r:embed="rId2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13F348E1-7D75-C8FB-C648-16484D46FA67}"/>
              </a:ext>
            </a:extLst>
          </p:cNvPr>
          <p:cNvPicPr>
            <a:picLocks noChangeAspect="1"/>
          </p:cNvPicPr>
          <p:nvPr/>
        </p:nvPicPr>
        <p:blipFill rotWithShape="1">
          <a:blip r:embed="rId25">
            <a:alphaModFix/>
            <a:extLst>
              <a:ext uri="{2D28C7F6-BB24-4A95-BEB7-42B481537082}">
                <asvg:svgBlip xmlns="" xmlns:a16="http://schemas.microsoft.com/office/drawing/2014/main" xmlns:a14="http://schemas.microsoft.com/office/drawing/2010/main" xmlns:p14="http://schemas.microsoft.com/office/powerpoint/2010/main" xmlns:asvg="http://schemas.microsoft.com/office/drawing/2016/SVG/main" r:embed="rI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E7B3474C-2168-8A37-0AD0-7C404BDB8071}"/>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53F3F425-6B93-52C4-D620-B0B59398E5D1}"/>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854A7319-DF2C-674E-A406-175477E30C4E}"/>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DD4E1E7A-01A1-78C8-EECB-DCEE1C2D741F}"/>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pic>
        <p:nvPicPr>
          <p:cNvPr id="366" name="Rect">
            <a:extLst>
              <a:ext uri="{FF2B5EF4-FFF2-40B4-BE49-F238E27FC236}">
                <a16:creationId xmlns:a16="http://schemas.microsoft.com/office/drawing/2014/main" id="{BFB1EEA6-4A0D-364D-0A33-DB10F8390C50}"/>
              </a:ext>
            </a:extLst>
          </p:cNvPr>
          <p:cNvPicPr>
            <a:picLocks noChangeAspect="1"/>
          </p:cNvPicPr>
          <p:nvPr/>
        </p:nvPicPr>
        <p:blipFill rotWithShape="1">
          <a:blip r:embed="rId28">
            <a:alphaModFix/>
          </a:blip>
          <a:stretch/>
        </p:blipFill>
        <p:spPr>
          <a:xfrm>
            <a:off x="1424168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1A1491E1-0F2F-1FDA-46F6-B4AF1A37CA55}"/>
              </a:ext>
            </a:extLst>
          </p:cNvPr>
          <p:cNvSpPr txBox="1"/>
          <p:nvPr/>
        </p:nvSpPr>
        <p:spPr>
          <a:xfrm>
            <a:off x="1409700" y="993172"/>
            <a:ext cx="15516225" cy="679673"/>
          </a:xfrm>
          <a:prstGeom prst="rect">
            <a:avLst/>
          </a:prstGeom>
          <a:noFill/>
        </p:spPr>
        <p:txBody>
          <a:bodyPr vertOverflow="clip" horzOverflow="clip" wrap="square" lIns="0" tIns="0" rIns="0" bIns="0" rtlCol="0" anchor="t">
            <a:spAutoFit/>
          </a:bodyPr>
          <a:lstStyle/>
          <a:p>
            <a:pPr algn="ctr">
              <a:lnSpc>
                <a:spcPts val="5292"/>
              </a:lnSpc>
            </a:pPr>
            <a:r>
              <a:rPr lang="en-IN" sz="4800" dirty="0"/>
              <a:t>Algorithms Used</a:t>
            </a:r>
            <a:endParaRPr lang="en-US" sz="4400" b="1"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E8F6D42-7312-78CA-8024-404C713158F8}"/>
              </a:ext>
            </a:extLst>
          </p:cNvPr>
          <p:cNvSpPr txBox="1"/>
          <p:nvPr/>
        </p:nvSpPr>
        <p:spPr>
          <a:xfrm>
            <a:off x="2119087" y="2347435"/>
            <a:ext cx="12017636" cy="5521704"/>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Smart Navigation: A* and RRT pathfinding algorithms.</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Gesture Recognition: CNN-LSTM hybrid model.</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Emergency Response: AI-based triage and route optimization.</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Obstacle Avoidance: YOLOv5 object detection.</a:t>
            </a:r>
          </a:p>
        </p:txBody>
      </p:sp>
    </p:spTree>
    <p:extLst>
      <p:ext uri="{BB962C8B-B14F-4D97-AF65-F5344CB8AC3E}">
        <p14:creationId xmlns:p14="http://schemas.microsoft.com/office/powerpoint/2010/main" val="3159347341"/>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1560"/>
                                  </p:stCondLst>
                                  <p:childTnLst>
                                    <p:set>
                                      <p:cBhvr>
                                        <p:cTn id="46" dur="1" fill="hold">
                                          <p:stCondLst>
                                            <p:cond delay="0"/>
                                          </p:stCondLst>
                                        </p:cTn>
                                        <p:tgtEl>
                                          <p:spTgt spid="366"/>
                                        </p:tgtEl>
                                        <p:attrNameLst>
                                          <p:attrName>style.visibility</p:attrName>
                                        </p:attrNameLst>
                                      </p:cBhvr>
                                      <p:to>
                                        <p:strVal val="visible"/>
                                      </p:to>
                                    </p:set>
                                    <p:animEffect transition="in" filter="fade">
                                      <p:cBhvr>
                                        <p:cTn id="47" dur="1000"/>
                                        <p:tgtEl>
                                          <p:spTgt spid="366"/>
                                        </p:tgtEl>
                                      </p:cBhvr>
                                    </p:animEffect>
                                  </p:childTnLst>
                                </p:cTn>
                              </p:par>
                              <p:par>
                                <p:cTn id="48" presetID="64" presetClass="path" presetSubtype="0" accel="50000" decel="50000" fill="hold" nodeType="withEffect">
                                  <p:stCondLst>
                                    <p:cond delay="1560"/>
                                  </p:stCondLst>
                                  <p:childTnLst>
                                    <p:animMotion origin="layout" path="M -1.2715658E-06 0.046296295 L -1.2715658E-06 0 E" pathEditMode="relative" ptsTypes="">
                                      <p:cBhvr>
                                        <p:cTn id="49" dur="1000" fill="hold"/>
                                        <p:tgtEl>
                                          <p:spTgt spid="366"/>
                                        </p:tgtEl>
                                        <p:attrNameLst>
                                          <p:attrName>ppt_x</p:attrName>
                                          <p:attrName>ppt_y</p:attrName>
                                        </p:attrNameLst>
                                      </p:cBhvr>
                                    </p:animMotion>
                                  </p:childTnLst>
                                </p:cTn>
                              </p:par>
                              <p:par>
                                <p:cTn id="50" presetID="10" presetClass="entr" presetSubtype="0" accel="50000" decel="50000" fill="hold" nodeType="withEffect">
                                  <p:stCondLst>
                                    <p:cond delay="300"/>
                                  </p:stCondLst>
                                  <p:childTnLst>
                                    <p:set>
                                      <p:cBhvr>
                                        <p:cTn id="51" dur="1" fill="hold">
                                          <p:stCondLst>
                                            <p:cond delay="0"/>
                                          </p:stCondLst>
                                        </p:cTn>
                                        <p:tgtEl>
                                          <p:spTgt spid="374"/>
                                        </p:tgtEl>
                                        <p:attrNameLst>
                                          <p:attrName>style.visibility</p:attrName>
                                        </p:attrNameLst>
                                      </p:cBhvr>
                                      <p:to>
                                        <p:strVal val="visible"/>
                                      </p:to>
                                    </p:set>
                                    <p:animEffect transition="in" filter="fade">
                                      <p:cBhvr>
                                        <p:cTn id="52" dur="600"/>
                                        <p:tgtEl>
                                          <p:spTgt spid="374"/>
                                        </p:tgtEl>
                                      </p:cBhvr>
                                    </p:animEffect>
                                  </p:childTnLst>
                                </p:cTn>
                              </p:par>
                              <p:par>
                                <p:cTn id="53" presetID="64" presetClass="path" presetSubtype="0" accel="50000" decel="50000" fill="hold" nodeType="withEffect">
                                  <p:stCondLst>
                                    <p:cond delay="300"/>
                                  </p:stCondLst>
                                  <p:childTnLst>
                                    <p:animMotion origin="layout" path="M 0 0.04629225 L 0 -4.0478176E-06 E" pathEditMode="relative" ptsTypes="">
                                      <p:cBhvr>
                                        <p:cTn id="54"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66" grpId="0"/>
      <p:bldP spid="37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544F-4B51-EE89-3D87-5B6B7BA4F229}"/>
            </a:ext>
          </a:extLst>
        </p:cNvPr>
        <p:cNvGrpSpPr/>
        <p:nvPr/>
      </p:nvGrpSpPr>
      <p:grpSpPr>
        <a:xfrm>
          <a:off x="0" y="0"/>
          <a:ext cx="0" cy="0"/>
          <a:chOff x="0" y="0"/>
          <a:chExt cx="0" cy="0"/>
        </a:xfrm>
      </p:grpSpPr>
      <p:pic>
        <p:nvPicPr>
          <p:cNvPr id="316" name="Rect">
            <a:extLst>
              <a:ext uri="{FF2B5EF4-FFF2-40B4-BE49-F238E27FC236}">
                <a16:creationId xmlns:a16="http://schemas.microsoft.com/office/drawing/2014/main" id="{E223B647-447E-4B53-9EC5-E57E4A17842B}"/>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60ED02AB-4DBF-19C1-E06F-FC5F73A6E421}"/>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2DCB836D-044F-288F-EE4E-835DFD93BF2F}"/>
              </a:ext>
            </a:extLst>
          </p:cNvPr>
          <p:cNvPicPr>
            <a:picLocks noChangeAspect="1"/>
          </p:cNvPicPr>
          <p:nvPr/>
        </p:nvPicPr>
        <p:blipFill rotWithShape="1">
          <a:blip r:embed="rId4">
            <a:alphaModFix/>
            <a:extLst>
              <a:ext uri="{D447D3F8-93D1-453B-83F5-75E1A01F88BF}">
                <asvg:svgBlip xmlns:asvg="http://schemas.microsoft.com/office/drawing/2016/SVG/main" xmlns:p14="http://schemas.microsoft.com/office/powerpoint/2010/main" xmlns:a14="http://schemas.microsoft.com/office/drawing/2010/main" xmlns:a16="http://schemas.microsoft.com/office/drawing/2014/main" xmlns="" r:embed="rId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897E8425-CC11-B72A-9261-E91B689E0325}"/>
              </a:ext>
            </a:extLst>
          </p:cNvPr>
          <p:cNvPicPr>
            <a:picLocks noChangeAspect="1"/>
          </p:cNvPicPr>
          <p:nvPr/>
        </p:nvPicPr>
        <p:blipFill rotWithShape="1">
          <a:blip r:embed="rId25">
            <a:alphaModFix/>
            <a:extLst>
              <a:ext uri="{2D28C7F6-BB24-4A95-BEB7-42B481537082}">
                <asvg:svgBlip xmlns:asvg="http://schemas.microsoft.com/office/drawing/2016/SVG/main" xmlns:p14="http://schemas.microsoft.com/office/powerpoint/2010/main" xmlns:a14="http://schemas.microsoft.com/office/drawing/2010/main" xmlns:a16="http://schemas.microsoft.com/office/drawing/2014/main" xmlns="" r:embed="rId27"/>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552C37D3-FC3C-C16A-7DA6-CFA1D534721E}"/>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825C4DE0-31E2-B141-8C7D-E070D1A66723}"/>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D9FC75A5-F6C4-AB30-A871-F5A1DC603346}"/>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F053FF76-616D-9320-4DEA-141777535DEA}"/>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pic>
        <p:nvPicPr>
          <p:cNvPr id="366" name="Rect">
            <a:extLst>
              <a:ext uri="{FF2B5EF4-FFF2-40B4-BE49-F238E27FC236}">
                <a16:creationId xmlns:a16="http://schemas.microsoft.com/office/drawing/2014/main" id="{1E47349A-0A51-1286-DA94-74FBD3FA4DC3}"/>
              </a:ext>
            </a:extLst>
          </p:cNvPr>
          <p:cNvPicPr>
            <a:picLocks noChangeAspect="1"/>
          </p:cNvPicPr>
          <p:nvPr/>
        </p:nvPicPr>
        <p:blipFill rotWithShape="1">
          <a:blip r:embed="rId28">
            <a:alphaModFix/>
          </a:blip>
          <a:stretch/>
        </p:blipFill>
        <p:spPr>
          <a:xfrm>
            <a:off x="1424168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88EFE4A4-2B1F-F3EE-3C6C-BFE16B792D18}"/>
              </a:ext>
            </a:extLst>
          </p:cNvPr>
          <p:cNvSpPr txBox="1"/>
          <p:nvPr/>
        </p:nvSpPr>
        <p:spPr>
          <a:xfrm>
            <a:off x="1409700" y="993172"/>
            <a:ext cx="15516225" cy="679673"/>
          </a:xfrm>
          <a:prstGeom prst="rect">
            <a:avLst/>
          </a:prstGeom>
          <a:noFill/>
        </p:spPr>
        <p:txBody>
          <a:bodyPr vertOverflow="clip" horzOverflow="clip" wrap="square" lIns="0" tIns="0" rIns="0" bIns="0" rtlCol="0" anchor="t">
            <a:spAutoFit/>
          </a:bodyPr>
          <a:lstStyle/>
          <a:p>
            <a:pPr algn="ctr">
              <a:lnSpc>
                <a:spcPts val="5292"/>
              </a:lnSpc>
            </a:pPr>
            <a:r>
              <a:rPr lang="en-IN" sz="4800" dirty="0">
                <a:latin typeface="Times New Roman" panose="02020603050405020304" pitchFamily="18" charset="0"/>
                <a:cs typeface="Times New Roman" panose="02020603050405020304" pitchFamily="18" charset="0"/>
              </a:rPr>
              <a:t>Experimental Results &amp; Discussion</a:t>
            </a:r>
            <a:endParaRPr lang="en-US" sz="4400" b="1"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FBA09F3-12CA-3907-AB34-B4252DF8D5F4}"/>
              </a:ext>
            </a:extLst>
          </p:cNvPr>
          <p:cNvSpPr txBox="1"/>
          <p:nvPr/>
        </p:nvSpPr>
        <p:spPr>
          <a:xfrm>
            <a:off x="2119087" y="2347435"/>
            <a:ext cx="12017636" cy="3690241"/>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AI-powered navigation achieved 92% accuracy.</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Gesture recognition success rate: 95%.</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60% reduction in medical supply delivery time.</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Improved coordination with emergency teams.</a:t>
            </a:r>
          </a:p>
        </p:txBody>
      </p:sp>
    </p:spTree>
    <p:extLst>
      <p:ext uri="{BB962C8B-B14F-4D97-AF65-F5344CB8AC3E}">
        <p14:creationId xmlns:p14="http://schemas.microsoft.com/office/powerpoint/2010/main" val="198311664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1560"/>
                                  </p:stCondLst>
                                  <p:childTnLst>
                                    <p:set>
                                      <p:cBhvr>
                                        <p:cTn id="46" dur="1" fill="hold">
                                          <p:stCondLst>
                                            <p:cond delay="0"/>
                                          </p:stCondLst>
                                        </p:cTn>
                                        <p:tgtEl>
                                          <p:spTgt spid="366"/>
                                        </p:tgtEl>
                                        <p:attrNameLst>
                                          <p:attrName>style.visibility</p:attrName>
                                        </p:attrNameLst>
                                      </p:cBhvr>
                                      <p:to>
                                        <p:strVal val="visible"/>
                                      </p:to>
                                    </p:set>
                                    <p:animEffect transition="in" filter="fade">
                                      <p:cBhvr>
                                        <p:cTn id="47" dur="1000"/>
                                        <p:tgtEl>
                                          <p:spTgt spid="366"/>
                                        </p:tgtEl>
                                      </p:cBhvr>
                                    </p:animEffect>
                                  </p:childTnLst>
                                </p:cTn>
                              </p:par>
                              <p:par>
                                <p:cTn id="48" presetID="64" presetClass="path" presetSubtype="0" accel="50000" decel="50000" fill="hold" nodeType="withEffect">
                                  <p:stCondLst>
                                    <p:cond delay="1560"/>
                                  </p:stCondLst>
                                  <p:childTnLst>
                                    <p:animMotion origin="layout" path="M -1.2715658E-06 0.046296295 L -1.2715658E-06 0 E" pathEditMode="relative" ptsTypes="">
                                      <p:cBhvr>
                                        <p:cTn id="49" dur="1000" fill="hold"/>
                                        <p:tgtEl>
                                          <p:spTgt spid="366"/>
                                        </p:tgtEl>
                                        <p:attrNameLst>
                                          <p:attrName>ppt_x</p:attrName>
                                          <p:attrName>ppt_y</p:attrName>
                                        </p:attrNameLst>
                                      </p:cBhvr>
                                    </p:animMotion>
                                  </p:childTnLst>
                                </p:cTn>
                              </p:par>
                              <p:par>
                                <p:cTn id="50" presetID="10" presetClass="entr" presetSubtype="0" accel="50000" decel="50000" fill="hold" nodeType="withEffect">
                                  <p:stCondLst>
                                    <p:cond delay="300"/>
                                  </p:stCondLst>
                                  <p:childTnLst>
                                    <p:set>
                                      <p:cBhvr>
                                        <p:cTn id="51" dur="1" fill="hold">
                                          <p:stCondLst>
                                            <p:cond delay="0"/>
                                          </p:stCondLst>
                                        </p:cTn>
                                        <p:tgtEl>
                                          <p:spTgt spid="374"/>
                                        </p:tgtEl>
                                        <p:attrNameLst>
                                          <p:attrName>style.visibility</p:attrName>
                                        </p:attrNameLst>
                                      </p:cBhvr>
                                      <p:to>
                                        <p:strVal val="visible"/>
                                      </p:to>
                                    </p:set>
                                    <p:animEffect transition="in" filter="fade">
                                      <p:cBhvr>
                                        <p:cTn id="52" dur="600"/>
                                        <p:tgtEl>
                                          <p:spTgt spid="374"/>
                                        </p:tgtEl>
                                      </p:cBhvr>
                                    </p:animEffect>
                                  </p:childTnLst>
                                </p:cTn>
                              </p:par>
                              <p:par>
                                <p:cTn id="53" presetID="64" presetClass="path" presetSubtype="0" accel="50000" decel="50000" fill="hold" nodeType="withEffect">
                                  <p:stCondLst>
                                    <p:cond delay="300"/>
                                  </p:stCondLst>
                                  <p:childTnLst>
                                    <p:animMotion origin="layout" path="M 0 0.04629225 L 0 -4.0478176E-06 E" pathEditMode="relative" ptsTypes="">
                                      <p:cBhvr>
                                        <p:cTn id="54"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66" grpId="0"/>
      <p:bldP spid="37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876F2-37F0-7BA0-0D76-0B1B885B52DE}"/>
            </a:ext>
          </a:extLst>
        </p:cNvPr>
        <p:cNvGrpSpPr/>
        <p:nvPr/>
      </p:nvGrpSpPr>
      <p:grpSpPr>
        <a:xfrm>
          <a:off x="0" y="0"/>
          <a:ext cx="0" cy="0"/>
          <a:chOff x="0" y="0"/>
          <a:chExt cx="0" cy="0"/>
        </a:xfrm>
      </p:grpSpPr>
      <p:pic>
        <p:nvPicPr>
          <p:cNvPr id="316" name="Rect">
            <a:extLst>
              <a:ext uri="{FF2B5EF4-FFF2-40B4-BE49-F238E27FC236}">
                <a16:creationId xmlns:a16="http://schemas.microsoft.com/office/drawing/2014/main" id="{EA9DA6CA-2970-C6D5-2CE6-83B922018A5D}"/>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46930476-2581-224D-F7CD-29A5617AFDC8}"/>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1DB87886-5CF5-EA30-1FBD-44FDC8AB71A1}"/>
              </a:ext>
            </a:extLst>
          </p:cNvPr>
          <p:cNvPicPr>
            <a:picLocks noChangeAspect="1"/>
          </p:cNvPicPr>
          <p:nvPr/>
        </p:nvPicPr>
        <p:blipFill rotWithShape="1">
          <a:blip r:embed="rId4">
            <a:alphaModFix/>
            <a:extLst>
              <a:ext uri="{D447D3F8-93D1-453B-83F5-75E1A01F88BF}">
                <asvg:svgBlip xmlns="" xmlns:a16="http://schemas.microsoft.com/office/drawing/2014/main" xmlns:a14="http://schemas.microsoft.com/office/drawing/2010/main" xmlns:p14="http://schemas.microsoft.com/office/powerpoint/2010/main" xmlns:asvg="http://schemas.microsoft.com/office/drawing/2016/SVG/main" r:embed="rId2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45DA595A-871D-A0F5-2665-D6827C5CA8BF}"/>
              </a:ext>
            </a:extLst>
          </p:cNvPr>
          <p:cNvPicPr>
            <a:picLocks noChangeAspect="1"/>
          </p:cNvPicPr>
          <p:nvPr/>
        </p:nvPicPr>
        <p:blipFill rotWithShape="1">
          <a:blip r:embed="rId25">
            <a:alphaModFix/>
            <a:extLst>
              <a:ext uri="{2D28C7F6-BB24-4A95-BEB7-42B481537082}">
                <asvg:svgBlip xmlns="" xmlns:a16="http://schemas.microsoft.com/office/drawing/2014/main" xmlns:a14="http://schemas.microsoft.com/office/drawing/2010/main" xmlns:p14="http://schemas.microsoft.com/office/powerpoint/2010/main" xmlns:asvg="http://schemas.microsoft.com/office/drawing/2016/SVG/main" r:embed="rI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20B36EAC-44ED-9724-0BF7-A85C759019A0}"/>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E7C0E4E3-DD47-AB48-99C1-BC572B317C00}"/>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2C59D076-70CE-41F0-5D83-1C2D62E87300}"/>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8AAB2A49-C939-F0EB-64B5-A37762E05EAB}"/>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pic>
        <p:nvPicPr>
          <p:cNvPr id="366" name="Rect">
            <a:extLst>
              <a:ext uri="{FF2B5EF4-FFF2-40B4-BE49-F238E27FC236}">
                <a16:creationId xmlns:a16="http://schemas.microsoft.com/office/drawing/2014/main" id="{E7A79CAE-6B99-9579-6DA9-447598ED446F}"/>
              </a:ext>
            </a:extLst>
          </p:cNvPr>
          <p:cNvPicPr>
            <a:picLocks noChangeAspect="1"/>
          </p:cNvPicPr>
          <p:nvPr/>
        </p:nvPicPr>
        <p:blipFill rotWithShape="1">
          <a:blip r:embed="rId28">
            <a:alphaModFix/>
          </a:blip>
          <a:stretch/>
        </p:blipFill>
        <p:spPr>
          <a:xfrm>
            <a:off x="1424168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515F5BA3-C094-8DCD-7784-1C2E4652E9CE}"/>
              </a:ext>
            </a:extLst>
          </p:cNvPr>
          <p:cNvSpPr txBox="1"/>
          <p:nvPr/>
        </p:nvSpPr>
        <p:spPr>
          <a:xfrm>
            <a:off x="1409700" y="993172"/>
            <a:ext cx="15516225" cy="679673"/>
          </a:xfrm>
          <a:prstGeom prst="rect">
            <a:avLst/>
          </a:prstGeom>
          <a:noFill/>
        </p:spPr>
        <p:txBody>
          <a:bodyPr vertOverflow="clip" horzOverflow="clip" wrap="square" lIns="0" tIns="0" rIns="0" bIns="0" rtlCol="0" anchor="t">
            <a:spAutoFit/>
          </a:bodyPr>
          <a:lstStyle/>
          <a:p>
            <a:pPr algn="ctr">
              <a:lnSpc>
                <a:spcPts val="5292"/>
              </a:lnSpc>
            </a:pPr>
            <a:r>
              <a:rPr lang="en-IN" sz="4800" dirty="0">
                <a:latin typeface="Times New Roman" panose="02020603050405020304" pitchFamily="18" charset="0"/>
                <a:cs typeface="Times New Roman" panose="02020603050405020304" pitchFamily="18" charset="0"/>
              </a:rPr>
              <a:t>Conclusion &amp; Future Work</a:t>
            </a:r>
            <a:endParaRPr lang="en-US" sz="4400" b="1"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17CDC53-D882-2EB2-B07A-2E94ADF0FAC1}"/>
              </a:ext>
            </a:extLst>
          </p:cNvPr>
          <p:cNvSpPr txBox="1"/>
          <p:nvPr/>
        </p:nvSpPr>
        <p:spPr>
          <a:xfrm>
            <a:off x="2119087" y="2347435"/>
            <a:ext cx="12017636" cy="3690241"/>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HealthWings improves emergency medical logistics.</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Future work includes improved AI decision-making.</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Enhancing battery life for extended flight time.</a:t>
            </a:r>
          </a:p>
          <a:p>
            <a:pPr marL="571500" indent="-571500">
              <a:lnSpc>
                <a:spcPct val="15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Integration of IoT-based patient health monitoring.</a:t>
            </a:r>
          </a:p>
        </p:txBody>
      </p:sp>
    </p:spTree>
    <p:extLst>
      <p:ext uri="{BB962C8B-B14F-4D97-AF65-F5344CB8AC3E}">
        <p14:creationId xmlns:p14="http://schemas.microsoft.com/office/powerpoint/2010/main" val="3323533494"/>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1560"/>
                                  </p:stCondLst>
                                  <p:childTnLst>
                                    <p:set>
                                      <p:cBhvr>
                                        <p:cTn id="46" dur="1" fill="hold">
                                          <p:stCondLst>
                                            <p:cond delay="0"/>
                                          </p:stCondLst>
                                        </p:cTn>
                                        <p:tgtEl>
                                          <p:spTgt spid="366"/>
                                        </p:tgtEl>
                                        <p:attrNameLst>
                                          <p:attrName>style.visibility</p:attrName>
                                        </p:attrNameLst>
                                      </p:cBhvr>
                                      <p:to>
                                        <p:strVal val="visible"/>
                                      </p:to>
                                    </p:set>
                                    <p:animEffect transition="in" filter="fade">
                                      <p:cBhvr>
                                        <p:cTn id="47" dur="1000"/>
                                        <p:tgtEl>
                                          <p:spTgt spid="366"/>
                                        </p:tgtEl>
                                      </p:cBhvr>
                                    </p:animEffect>
                                  </p:childTnLst>
                                </p:cTn>
                              </p:par>
                              <p:par>
                                <p:cTn id="48" presetID="64" presetClass="path" presetSubtype="0" accel="50000" decel="50000" fill="hold" nodeType="withEffect">
                                  <p:stCondLst>
                                    <p:cond delay="1560"/>
                                  </p:stCondLst>
                                  <p:childTnLst>
                                    <p:animMotion origin="layout" path="M -1.2715658E-06 0.046296295 L -1.2715658E-06 0 E" pathEditMode="relative" ptsTypes="">
                                      <p:cBhvr>
                                        <p:cTn id="49" dur="1000" fill="hold"/>
                                        <p:tgtEl>
                                          <p:spTgt spid="366"/>
                                        </p:tgtEl>
                                        <p:attrNameLst>
                                          <p:attrName>ppt_x</p:attrName>
                                          <p:attrName>ppt_y</p:attrName>
                                        </p:attrNameLst>
                                      </p:cBhvr>
                                    </p:animMotion>
                                  </p:childTnLst>
                                </p:cTn>
                              </p:par>
                              <p:par>
                                <p:cTn id="50" presetID="10" presetClass="entr" presetSubtype="0" accel="50000" decel="50000" fill="hold" nodeType="withEffect">
                                  <p:stCondLst>
                                    <p:cond delay="300"/>
                                  </p:stCondLst>
                                  <p:childTnLst>
                                    <p:set>
                                      <p:cBhvr>
                                        <p:cTn id="51" dur="1" fill="hold">
                                          <p:stCondLst>
                                            <p:cond delay="0"/>
                                          </p:stCondLst>
                                        </p:cTn>
                                        <p:tgtEl>
                                          <p:spTgt spid="374"/>
                                        </p:tgtEl>
                                        <p:attrNameLst>
                                          <p:attrName>style.visibility</p:attrName>
                                        </p:attrNameLst>
                                      </p:cBhvr>
                                      <p:to>
                                        <p:strVal val="visible"/>
                                      </p:to>
                                    </p:set>
                                    <p:animEffect transition="in" filter="fade">
                                      <p:cBhvr>
                                        <p:cTn id="52" dur="600"/>
                                        <p:tgtEl>
                                          <p:spTgt spid="374"/>
                                        </p:tgtEl>
                                      </p:cBhvr>
                                    </p:animEffect>
                                  </p:childTnLst>
                                </p:cTn>
                              </p:par>
                              <p:par>
                                <p:cTn id="53" presetID="64" presetClass="path" presetSubtype="0" accel="50000" decel="50000" fill="hold" nodeType="withEffect">
                                  <p:stCondLst>
                                    <p:cond delay="300"/>
                                  </p:stCondLst>
                                  <p:childTnLst>
                                    <p:animMotion origin="layout" path="M 0 0.04629225 L 0 -4.0478176E-06 E" pathEditMode="relative" ptsTypes="">
                                      <p:cBhvr>
                                        <p:cTn id="54"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66" grpId="0"/>
      <p:bldP spid="37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6AB0-F46F-530E-5C68-3B3BB9FB3CC7}"/>
            </a:ext>
          </a:extLst>
        </p:cNvPr>
        <p:cNvGrpSpPr/>
        <p:nvPr/>
      </p:nvGrpSpPr>
      <p:grpSpPr>
        <a:xfrm>
          <a:off x="0" y="0"/>
          <a:ext cx="0" cy="0"/>
          <a:chOff x="0" y="0"/>
          <a:chExt cx="0" cy="0"/>
        </a:xfrm>
      </p:grpSpPr>
      <p:pic>
        <p:nvPicPr>
          <p:cNvPr id="316" name="Rect">
            <a:extLst>
              <a:ext uri="{FF2B5EF4-FFF2-40B4-BE49-F238E27FC236}">
                <a16:creationId xmlns:a16="http://schemas.microsoft.com/office/drawing/2014/main" id="{A84DC7E2-DC48-B669-D181-31C25EC9F60A}"/>
              </a:ext>
            </a:extLst>
          </p:cNvPr>
          <p:cNvPicPr>
            <a:picLocks noChangeAspect="1"/>
          </p:cNvPicPr>
          <p:nvPr/>
        </p:nvPicPr>
        <p:blipFill rotWithShape="1">
          <a:blip r:embed="rId2">
            <a:alphaModFix/>
          </a:blip>
          <a:stretch/>
        </p:blipFill>
        <p:spPr>
          <a:xfrm>
            <a:off x="0" y="0"/>
            <a:ext cx="5715000" cy="5715000"/>
          </a:xfrm>
          <a:prstGeom prst="rect">
            <a:avLst/>
          </a:prstGeom>
        </p:spPr>
      </p:pic>
      <p:pic>
        <p:nvPicPr>
          <p:cNvPr id="318" name="Rect">
            <a:extLst>
              <a:ext uri="{FF2B5EF4-FFF2-40B4-BE49-F238E27FC236}">
                <a16:creationId xmlns:a16="http://schemas.microsoft.com/office/drawing/2014/main" id="{2B91ED9B-63CD-5833-0519-12C182F4A786}"/>
              </a:ext>
            </a:extLst>
          </p:cNvPr>
          <p:cNvPicPr>
            <a:picLocks noChangeAspect="1"/>
          </p:cNvPicPr>
          <p:nvPr/>
        </p:nvPicPr>
        <p:blipFill rotWithShape="1">
          <a:blip r:embed="rId3">
            <a:alphaModFix/>
          </a:blip>
          <a:stretch/>
        </p:blipFill>
        <p:spPr>
          <a:xfrm>
            <a:off x="8046690" y="0"/>
            <a:ext cx="10239375" cy="10287000"/>
          </a:xfrm>
          <a:prstGeom prst="rect">
            <a:avLst/>
          </a:prstGeom>
        </p:spPr>
      </p:pic>
      <p:pic>
        <p:nvPicPr>
          <p:cNvPr id="320" name="layoutShapeInnerChild7">
            <a:extLst>
              <a:ext uri="{FF2B5EF4-FFF2-40B4-BE49-F238E27FC236}">
                <a16:creationId xmlns:a16="http://schemas.microsoft.com/office/drawing/2014/main" id="{A328363F-50FA-A295-9385-35C6BDBE9912}"/>
              </a:ext>
            </a:extLst>
          </p:cNvPr>
          <p:cNvPicPr>
            <a:picLocks noChangeAspect="1"/>
          </p:cNvPicPr>
          <p:nvPr/>
        </p:nvPicPr>
        <p:blipFill rotWithShape="1">
          <a:blip r:embed="rId4">
            <a:alphaModFix/>
            <a:extLst>
              <a:ext uri="{D447D3F8-93D1-453B-83F5-75E1A01F88BF}">
                <asvg:svgBlip xmlns="" xmlns:a16="http://schemas.microsoft.com/office/drawing/2014/main" xmlns:a14="http://schemas.microsoft.com/office/drawing/2010/main" xmlns:p14="http://schemas.microsoft.com/office/powerpoint/2010/main" xmlns:asvg="http://schemas.microsoft.com/office/drawing/2016/SVG/main" r:embed="rId2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963900" y="5448300"/>
            <a:ext cx="2324100" cy="4834681"/>
          </a:xfrm>
          <a:prstGeom prst="rect">
            <a:avLst/>
          </a:prstGeom>
        </p:spPr>
      </p:pic>
      <p:pic>
        <p:nvPicPr>
          <p:cNvPr id="322" name="layoutShapeInnerChild9">
            <a:extLst>
              <a:ext uri="{FF2B5EF4-FFF2-40B4-BE49-F238E27FC236}">
                <a16:creationId xmlns:a16="http://schemas.microsoft.com/office/drawing/2014/main" id="{EA686563-847C-F196-9818-B4FFCEF13592}"/>
              </a:ext>
            </a:extLst>
          </p:cNvPr>
          <p:cNvPicPr>
            <a:picLocks noChangeAspect="1"/>
          </p:cNvPicPr>
          <p:nvPr/>
        </p:nvPicPr>
        <p:blipFill rotWithShape="1">
          <a:blip r:embed="rId25">
            <a:alphaModFix/>
            <a:extLst>
              <a:ext uri="{2D28C7F6-BB24-4A95-BEB7-42B481537082}">
                <asvg:svgBlip xmlns="" xmlns:a16="http://schemas.microsoft.com/office/drawing/2014/main" xmlns:a14="http://schemas.microsoft.com/office/drawing/2010/main" xmlns:p14="http://schemas.microsoft.com/office/powerpoint/2010/main" xmlns:asvg="http://schemas.microsoft.com/office/drawing/2016/SVG/main" r:embed="rI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0" y="514350"/>
            <a:ext cx="1947119" cy="5143500"/>
          </a:xfrm>
          <a:prstGeom prst="rect">
            <a:avLst/>
          </a:prstGeom>
        </p:spPr>
      </p:pic>
      <p:pic>
        <p:nvPicPr>
          <p:cNvPr id="326" name="Rect">
            <a:extLst>
              <a:ext uri="{FF2B5EF4-FFF2-40B4-BE49-F238E27FC236}">
                <a16:creationId xmlns:a16="http://schemas.microsoft.com/office/drawing/2014/main" id="{8007649A-9D21-2C11-5B26-43EC7EF7C704}"/>
              </a:ext>
            </a:extLst>
          </p:cNvPr>
          <p:cNvPicPr>
            <a:picLocks noChangeAspect="1"/>
          </p:cNvPicPr>
          <p:nvPr/>
        </p:nvPicPr>
        <p:blipFill rotWithShape="1">
          <a:blip r:embed="rId28">
            <a:alphaModFix/>
          </a:blip>
          <a:stretch/>
        </p:blipFill>
        <p:spPr>
          <a:xfrm>
            <a:off x="1714500" y="2819400"/>
            <a:ext cx="2333625" cy="2695575"/>
          </a:xfrm>
          <a:prstGeom prst="rect">
            <a:avLst/>
          </a:prstGeom>
          <a:effectLst>
            <a:outerShdw blurRad="114300" dir="2700000" algn="ctr" rotWithShape="0">
              <a:srgbClr val="000000">
                <a:alpha val="40000"/>
              </a:srgbClr>
            </a:outerShdw>
          </a:effectLst>
        </p:spPr>
      </p:pic>
      <p:pic>
        <p:nvPicPr>
          <p:cNvPr id="336" name="Rect">
            <a:extLst>
              <a:ext uri="{FF2B5EF4-FFF2-40B4-BE49-F238E27FC236}">
                <a16:creationId xmlns:a16="http://schemas.microsoft.com/office/drawing/2014/main" id="{A7719B3A-3F70-CC9A-78D9-16CBE0DC846C}"/>
              </a:ext>
            </a:extLst>
          </p:cNvPr>
          <p:cNvPicPr>
            <a:picLocks noChangeAspect="1"/>
          </p:cNvPicPr>
          <p:nvPr/>
        </p:nvPicPr>
        <p:blipFill rotWithShape="1">
          <a:blip r:embed="rId28">
            <a:alphaModFix/>
          </a:blip>
          <a:stretch/>
        </p:blipFill>
        <p:spPr>
          <a:xfrm>
            <a:off x="4846320" y="2819400"/>
            <a:ext cx="2333625" cy="2695575"/>
          </a:xfrm>
          <a:prstGeom prst="rect">
            <a:avLst/>
          </a:prstGeom>
          <a:effectLst>
            <a:outerShdw blurRad="114300" dir="2700000" algn="ctr" rotWithShape="0">
              <a:srgbClr val="000000">
                <a:alpha val="40000"/>
              </a:srgbClr>
            </a:outerShdw>
          </a:effectLst>
        </p:spPr>
      </p:pic>
      <p:pic>
        <p:nvPicPr>
          <p:cNvPr id="346" name="Rect">
            <a:extLst>
              <a:ext uri="{FF2B5EF4-FFF2-40B4-BE49-F238E27FC236}">
                <a16:creationId xmlns:a16="http://schemas.microsoft.com/office/drawing/2014/main" id="{2663A43E-1911-F2B4-8E7F-A5B78A85F31F}"/>
              </a:ext>
            </a:extLst>
          </p:cNvPr>
          <p:cNvPicPr>
            <a:picLocks noChangeAspect="1"/>
          </p:cNvPicPr>
          <p:nvPr/>
        </p:nvPicPr>
        <p:blipFill rotWithShape="1">
          <a:blip r:embed="rId28">
            <a:alphaModFix/>
          </a:blip>
          <a:stretch/>
        </p:blipFill>
        <p:spPr>
          <a:xfrm>
            <a:off x="7978045" y="2819400"/>
            <a:ext cx="2333625" cy="2695575"/>
          </a:xfrm>
          <a:prstGeom prst="rect">
            <a:avLst/>
          </a:prstGeom>
          <a:effectLst>
            <a:outerShdw blurRad="114300" dir="2700000" algn="ctr" rotWithShape="0">
              <a:srgbClr val="000000">
                <a:alpha val="40000"/>
              </a:srgbClr>
            </a:outerShdw>
          </a:effectLst>
        </p:spPr>
      </p:pic>
      <p:pic>
        <p:nvPicPr>
          <p:cNvPr id="356" name="Rect">
            <a:extLst>
              <a:ext uri="{FF2B5EF4-FFF2-40B4-BE49-F238E27FC236}">
                <a16:creationId xmlns:a16="http://schemas.microsoft.com/office/drawing/2014/main" id="{BC634BD9-8724-2442-3B9A-E04AC3082DC1}"/>
              </a:ext>
            </a:extLst>
          </p:cNvPr>
          <p:cNvPicPr>
            <a:picLocks noChangeAspect="1"/>
          </p:cNvPicPr>
          <p:nvPr/>
        </p:nvPicPr>
        <p:blipFill rotWithShape="1">
          <a:blip r:embed="rId28">
            <a:alphaModFix/>
          </a:blip>
          <a:stretch/>
        </p:blipFill>
        <p:spPr>
          <a:xfrm>
            <a:off x="11109865" y="2819400"/>
            <a:ext cx="2333625" cy="2695575"/>
          </a:xfrm>
          <a:prstGeom prst="rect">
            <a:avLst/>
          </a:prstGeom>
          <a:effectLst>
            <a:outerShdw blurRad="114300" dir="2700000" algn="ctr" rotWithShape="0">
              <a:srgbClr val="000000">
                <a:alpha val="40000"/>
              </a:srgbClr>
            </a:outerShdw>
          </a:effectLst>
        </p:spPr>
      </p:pic>
      <p:pic>
        <p:nvPicPr>
          <p:cNvPr id="366" name="Rect">
            <a:extLst>
              <a:ext uri="{FF2B5EF4-FFF2-40B4-BE49-F238E27FC236}">
                <a16:creationId xmlns:a16="http://schemas.microsoft.com/office/drawing/2014/main" id="{48EFBBF7-1F4A-2A15-B2BA-BACE7434EB01}"/>
              </a:ext>
            </a:extLst>
          </p:cNvPr>
          <p:cNvPicPr>
            <a:picLocks noChangeAspect="1"/>
          </p:cNvPicPr>
          <p:nvPr/>
        </p:nvPicPr>
        <p:blipFill rotWithShape="1">
          <a:blip r:embed="rId28">
            <a:alphaModFix/>
          </a:blip>
          <a:stretch/>
        </p:blipFill>
        <p:spPr>
          <a:xfrm>
            <a:off x="14241685" y="2819400"/>
            <a:ext cx="2333625" cy="2695575"/>
          </a:xfrm>
          <a:prstGeom prst="rect">
            <a:avLst/>
          </a:prstGeom>
          <a:effectLst>
            <a:outerShdw blurRad="114300" dir="2700000" algn="ctr" rotWithShape="0">
              <a:srgbClr val="000000">
                <a:alpha val="40000"/>
              </a:srgbClr>
            </a:outerShdw>
          </a:effectLst>
        </p:spPr>
      </p:pic>
      <p:sp>
        <p:nvSpPr>
          <p:cNvPr id="374" name="Click here to edit title-426">
            <a:extLst>
              <a:ext uri="{FF2B5EF4-FFF2-40B4-BE49-F238E27FC236}">
                <a16:creationId xmlns:a16="http://schemas.microsoft.com/office/drawing/2014/main" id="{8477AE81-4AE9-D1D4-0722-FBDDE46C92C9}"/>
              </a:ext>
            </a:extLst>
          </p:cNvPr>
          <p:cNvSpPr txBox="1"/>
          <p:nvPr/>
        </p:nvSpPr>
        <p:spPr>
          <a:xfrm>
            <a:off x="1409700" y="993172"/>
            <a:ext cx="15516225" cy="679673"/>
          </a:xfrm>
          <a:prstGeom prst="rect">
            <a:avLst/>
          </a:prstGeom>
          <a:noFill/>
        </p:spPr>
        <p:txBody>
          <a:bodyPr vertOverflow="clip" horzOverflow="clip" wrap="square" lIns="0" tIns="0" rIns="0" bIns="0" rtlCol="0" anchor="t">
            <a:spAutoFit/>
          </a:bodyPr>
          <a:lstStyle/>
          <a:p>
            <a:pPr algn="ctr">
              <a:lnSpc>
                <a:spcPts val="5292"/>
              </a:lnSpc>
            </a:pPr>
            <a:r>
              <a:rPr lang="en-IN" sz="4800" dirty="0">
                <a:latin typeface="Times New Roman" panose="02020603050405020304" pitchFamily="18" charset="0"/>
                <a:cs typeface="Times New Roman" panose="02020603050405020304" pitchFamily="18" charset="0"/>
              </a:rPr>
              <a:t>References</a:t>
            </a:r>
            <a:endParaRPr lang="en-US" sz="4400" b="1" spc="-84" dirty="0">
              <a:solidFill>
                <a:srgbClr val="181C24">
                  <a:alpha val="100000"/>
                </a:srgb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96C28C4-10F1-E171-2ED2-9C62D2F663D4}"/>
              </a:ext>
            </a:extLst>
          </p:cNvPr>
          <p:cNvSpPr txBox="1"/>
          <p:nvPr/>
        </p:nvSpPr>
        <p:spPr>
          <a:xfrm>
            <a:off x="1712690" y="2347435"/>
            <a:ext cx="15213235" cy="6445034"/>
          </a:xfrm>
          <a:prstGeom prst="rect">
            <a:avLst/>
          </a:prstGeom>
          <a:noFill/>
        </p:spPr>
        <p:txBody>
          <a:bodyPr wrap="square" rtlCol="0">
            <a:spAutoFit/>
          </a:bodyPr>
          <a:lstStyle/>
          <a:p>
            <a:pPr>
              <a:lnSpc>
                <a:spcPct val="150000"/>
              </a:lnSpc>
            </a:pPr>
            <a:r>
              <a:rPr lang="en-US" sz="4000" dirty="0">
                <a:latin typeface="Times New Roman" panose="02020603050405020304" pitchFamily="18" charset="0"/>
                <a:cs typeface="Times New Roman" panose="02020603050405020304" pitchFamily="18" charset="0"/>
              </a:rPr>
              <a:t>1. </a:t>
            </a:r>
            <a:r>
              <a:rPr lang="en-US" sz="4000" cap="small" dirty="0">
                <a:effectLst/>
                <a:latin typeface="Times New Roman" panose="02020603050405020304" pitchFamily="18" charset="0"/>
                <a:ea typeface="SimSun" panose="02010600030101010101" pitchFamily="2" charset="-122"/>
              </a:rPr>
              <a:t>"Implementation of IoT and UAV Based WBAN for Healthcare Applications" Authors: M. A. Kassab, M. A. Ismail, and M. A. Elhosseini Published in: 2021 IEEE </a:t>
            </a:r>
            <a:r>
              <a:rPr lang="en-US" sz="4000" dirty="0">
                <a:latin typeface="Times New Roman" panose="02020603050405020304" pitchFamily="18" charset="0"/>
                <a:cs typeface="Times New Roman" panose="02020603050405020304" pitchFamily="18" charset="0"/>
              </a:rPr>
              <a:t>.</a:t>
            </a:r>
          </a:p>
          <a:p>
            <a:pPr>
              <a:lnSpc>
                <a:spcPct val="150000"/>
              </a:lnSpc>
            </a:pPr>
            <a:endParaRPr lang="en-US" sz="4000" dirty="0">
              <a:latin typeface="Times New Roman" panose="02020603050405020304" pitchFamily="18" charset="0"/>
              <a:cs typeface="Times New Roman" panose="02020603050405020304" pitchFamily="18" charset="0"/>
            </a:endParaRPr>
          </a:p>
          <a:p>
            <a:pPr>
              <a:lnSpc>
                <a:spcPct val="150000"/>
              </a:lnSpc>
            </a:pPr>
            <a:r>
              <a:rPr lang="en-US" sz="4000" dirty="0">
                <a:latin typeface="Times New Roman" panose="02020603050405020304" pitchFamily="18" charset="0"/>
                <a:cs typeface="Times New Roman" panose="02020603050405020304" pitchFamily="18" charset="0"/>
              </a:rPr>
              <a:t>2</a:t>
            </a:r>
            <a:r>
              <a:rPr lang="en-US" sz="4000" cap="small" dirty="0">
                <a:effectLst/>
                <a:latin typeface="Times New Roman" panose="02020603050405020304" pitchFamily="18" charset="0"/>
                <a:ea typeface="SimSun" panose="02010600030101010101" pitchFamily="2" charset="-122"/>
              </a:rPr>
              <a:t>"Motion Estimation and Hand Gesture Recognition-Based Human UAV Interaction" Authors: S. Lee, J. Kim, and K. Park Published in: IEEE Access, 2022. </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582060"/>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200"/>
                                        <p:tgtEl>
                                          <p:spTgt spid="316"/>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316"/>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200"/>
                                        <p:tgtEl>
                                          <p:spTgt spid="318"/>
                                        </p:tgtEl>
                                      </p:cBhvr>
                                    </p:animEffect>
                                  </p:childTnLst>
                                </p:cTn>
                              </p:par>
                              <p:par>
                                <p:cTn id="13" presetID="64" presetClass="path" presetSubtype="0" accel="50000" decel="50000" fill="hold" nodeType="withEffect">
                                  <p:stCondLst>
                                    <p:cond delay="0"/>
                                  </p:stCondLst>
                                  <p:childTnLst>
                                    <p:animMotion origin="layout" path="M 1.3033549E-06 0.074074075 L 1.3033549E-06 0 E" pathEditMode="relative" ptsTypes="">
                                      <p:cBhvr>
                                        <p:cTn id="14" dur="1200" fill="hold"/>
                                        <p:tgtEl>
                                          <p:spTgt spid="318"/>
                                        </p:tgtEl>
                                        <p:attrNameLst>
                                          <p:attrName>ppt_x</p:attrName>
                                          <p:attrName>ppt_y</p:attrName>
                                        </p:attrNameLst>
                                      </p:cBhvr>
                                    </p:animMotion>
                                  </p:childTnLst>
                                </p:cTn>
                              </p:par>
                              <p:par>
                                <p:cTn id="15" presetID="10" presetClass="entr" presetSubtype="0" accel="50000" decel="50000" fill="hold" nodeType="with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1200"/>
                                        <p:tgtEl>
                                          <p:spTgt spid="320"/>
                                        </p:tgtEl>
                                      </p:cBhvr>
                                    </p:animEffect>
                                  </p:childTnLst>
                                </p:cTn>
                              </p:par>
                              <p:par>
                                <p:cTn id="18" presetID="64" presetClass="path" presetSubtype="0" accel="50000" decel="50000" fill="hold" nodeType="withEffect">
                                  <p:stCondLst>
                                    <p:cond delay="0"/>
                                  </p:stCondLst>
                                  <p:childTnLst>
                                    <p:animMotion origin="layout" path="M 0 0.074074075 L 0 0 E" pathEditMode="relative" ptsTypes="">
                                      <p:cBhvr>
                                        <p:cTn id="19" dur="1200" fill="hold"/>
                                        <p:tgtEl>
                                          <p:spTgt spid="320"/>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200"/>
                                        <p:tgtEl>
                                          <p:spTgt spid="322"/>
                                        </p:tgtEl>
                                      </p:cBhvr>
                                    </p:animEffect>
                                  </p:childTnLst>
                                </p:cTn>
                              </p:par>
                              <p:par>
                                <p:cTn id="23" presetID="64" presetClass="path" presetSubtype="0" accel="50000" decel="50000" fill="hold" nodeType="withEffect">
                                  <p:stCondLst>
                                    <p:cond delay="0"/>
                                  </p:stCondLst>
                                  <p:childTnLst>
                                    <p:animMotion origin="layout" path="M -1.9550323E-06 0.074074075 L -1.9550323E-06 0 E" pathEditMode="relative" ptsTypes="">
                                      <p:cBhvr>
                                        <p:cTn id="24" dur="1200" fill="hold"/>
                                        <p:tgtEl>
                                          <p:spTgt spid="322"/>
                                        </p:tgtEl>
                                        <p:attrNameLst>
                                          <p:attrName>ppt_x</p:attrName>
                                          <p:attrName>ppt_y</p:attrName>
                                        </p:attrNameLst>
                                      </p:cBhvr>
                                    </p:animMotion>
                                  </p:childTnLst>
                                </p:cTn>
                              </p:par>
                              <p:par>
                                <p:cTn id="25" presetID="10" presetClass="entr" presetSubtype="0" accel="50000" decel="50000" fill="hold" nodeType="withEffect">
                                  <p:stCondLst>
                                    <p:cond delay="100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1000"/>
                                        <p:tgtEl>
                                          <p:spTgt spid="326"/>
                                        </p:tgtEl>
                                      </p:cBhvr>
                                    </p:animEffect>
                                  </p:childTnLst>
                                </p:cTn>
                              </p:par>
                              <p:par>
                                <p:cTn id="28" presetID="64" presetClass="path" presetSubtype="0" accel="50000" decel="50000" fill="hold" nodeType="withEffect">
                                  <p:stCondLst>
                                    <p:cond delay="1000"/>
                                  </p:stCondLst>
                                  <p:childTnLst>
                                    <p:animMotion origin="layout" path="M 0 0.046296295 L 0 0 E" pathEditMode="relative" ptsTypes="">
                                      <p:cBhvr>
                                        <p:cTn id="29" dur="1000" fill="hold"/>
                                        <p:tgtEl>
                                          <p:spTgt spid="326"/>
                                        </p:tgtEl>
                                        <p:attrNameLst>
                                          <p:attrName>ppt_x</p:attrName>
                                          <p:attrName>ppt_y</p:attrName>
                                        </p:attrNameLst>
                                      </p:cBhvr>
                                    </p:animMotion>
                                  </p:childTnLst>
                                </p:cTn>
                              </p:par>
                              <p:par>
                                <p:cTn id="30" presetID="10" presetClass="entr" presetSubtype="0" accel="50000" decel="50000" fill="hold" nodeType="withEffect">
                                  <p:stCondLst>
                                    <p:cond delay="1140"/>
                                  </p:stCondLst>
                                  <p:childTnLst>
                                    <p:set>
                                      <p:cBhvr>
                                        <p:cTn id="31" dur="1" fill="hold">
                                          <p:stCondLst>
                                            <p:cond delay="0"/>
                                          </p:stCondLst>
                                        </p:cTn>
                                        <p:tgtEl>
                                          <p:spTgt spid="336"/>
                                        </p:tgtEl>
                                        <p:attrNameLst>
                                          <p:attrName>style.visibility</p:attrName>
                                        </p:attrNameLst>
                                      </p:cBhvr>
                                      <p:to>
                                        <p:strVal val="visible"/>
                                      </p:to>
                                    </p:set>
                                    <p:animEffect transition="in" filter="fade">
                                      <p:cBhvr>
                                        <p:cTn id="32" dur="1000"/>
                                        <p:tgtEl>
                                          <p:spTgt spid="336"/>
                                        </p:tgtEl>
                                      </p:cBhvr>
                                    </p:animEffect>
                                  </p:childTnLst>
                                </p:cTn>
                              </p:par>
                              <p:par>
                                <p:cTn id="33" presetID="64" presetClass="path" presetSubtype="0" accel="50000" decel="50000" fill="hold" nodeType="withEffect">
                                  <p:stCondLst>
                                    <p:cond delay="1140"/>
                                  </p:stCondLst>
                                  <p:childTnLst>
                                    <p:animMotion origin="layout" path="M -1.6212464E-06 0.046296295 L -1.6212464E-06 0 E" pathEditMode="relative" ptsTypes="">
                                      <p:cBhvr>
                                        <p:cTn id="34" dur="1000" fill="hold"/>
                                        <p:tgtEl>
                                          <p:spTgt spid="336"/>
                                        </p:tgtEl>
                                        <p:attrNameLst>
                                          <p:attrName>ppt_x</p:attrName>
                                          <p:attrName>ppt_y</p:attrName>
                                        </p:attrNameLst>
                                      </p:cBhvr>
                                    </p:animMotion>
                                  </p:childTnLst>
                                </p:cTn>
                              </p:par>
                              <p:par>
                                <p:cTn id="35" presetID="10" presetClass="entr" presetSubtype="0" accel="50000" decel="50000" fill="hold" nodeType="withEffect">
                                  <p:stCondLst>
                                    <p:cond delay="128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1000"/>
                                        <p:tgtEl>
                                          <p:spTgt spid="346"/>
                                        </p:tgtEl>
                                      </p:cBhvr>
                                    </p:animEffect>
                                  </p:childTnLst>
                                </p:cTn>
                              </p:par>
                              <p:par>
                                <p:cTn id="38" presetID="64" presetClass="path" presetSubtype="0" accel="50000" decel="50000" fill="hold" nodeType="withEffect">
                                  <p:stCondLst>
                                    <p:cond delay="1280"/>
                                  </p:stCondLst>
                                  <p:childTnLst>
                                    <p:animMotion origin="layout" path="M 1.9391377E-06 0.046296295 L 1.9391377E-06 0 E" pathEditMode="relative" ptsTypes="">
                                      <p:cBhvr>
                                        <p:cTn id="39" dur="1000" fill="hold"/>
                                        <p:tgtEl>
                                          <p:spTgt spid="346"/>
                                        </p:tgtEl>
                                        <p:attrNameLst>
                                          <p:attrName>ppt_x</p:attrName>
                                          <p:attrName>ppt_y</p:attrName>
                                        </p:attrNameLst>
                                      </p:cBhvr>
                                    </p:animMotion>
                                  </p:childTnLst>
                                </p:cTn>
                              </p:par>
                              <p:par>
                                <p:cTn id="40" presetID="10" presetClass="entr" presetSubtype="0" accel="50000" decel="50000" fill="hold" nodeType="withEffect">
                                  <p:stCondLst>
                                    <p:cond delay="142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par>
                                <p:cTn id="43" presetID="64" presetClass="path" presetSubtype="0" accel="50000" decel="50000" fill="hold" nodeType="withEffect">
                                  <p:stCondLst>
                                    <p:cond delay="1420"/>
                                  </p:stCondLst>
                                  <p:childTnLst>
                                    <p:animMotion origin="layout" path="M 3.1789145E-07 0.046296295 L 3.1789145E-07 0 E" pathEditMode="relative" ptsTypes="">
                                      <p:cBhvr>
                                        <p:cTn id="44" dur="1000" fill="hold"/>
                                        <p:tgtEl>
                                          <p:spTgt spid="356"/>
                                        </p:tgtEl>
                                        <p:attrNameLst>
                                          <p:attrName>ppt_x</p:attrName>
                                          <p:attrName>ppt_y</p:attrName>
                                        </p:attrNameLst>
                                      </p:cBhvr>
                                    </p:animMotion>
                                  </p:childTnLst>
                                </p:cTn>
                              </p:par>
                              <p:par>
                                <p:cTn id="45" presetID="10" presetClass="entr" presetSubtype="0" accel="50000" decel="50000" fill="hold" nodeType="withEffect">
                                  <p:stCondLst>
                                    <p:cond delay="1560"/>
                                  </p:stCondLst>
                                  <p:childTnLst>
                                    <p:set>
                                      <p:cBhvr>
                                        <p:cTn id="46" dur="1" fill="hold">
                                          <p:stCondLst>
                                            <p:cond delay="0"/>
                                          </p:stCondLst>
                                        </p:cTn>
                                        <p:tgtEl>
                                          <p:spTgt spid="366"/>
                                        </p:tgtEl>
                                        <p:attrNameLst>
                                          <p:attrName>style.visibility</p:attrName>
                                        </p:attrNameLst>
                                      </p:cBhvr>
                                      <p:to>
                                        <p:strVal val="visible"/>
                                      </p:to>
                                    </p:set>
                                    <p:animEffect transition="in" filter="fade">
                                      <p:cBhvr>
                                        <p:cTn id="47" dur="1000"/>
                                        <p:tgtEl>
                                          <p:spTgt spid="366"/>
                                        </p:tgtEl>
                                      </p:cBhvr>
                                    </p:animEffect>
                                  </p:childTnLst>
                                </p:cTn>
                              </p:par>
                              <p:par>
                                <p:cTn id="48" presetID="64" presetClass="path" presetSubtype="0" accel="50000" decel="50000" fill="hold" nodeType="withEffect">
                                  <p:stCondLst>
                                    <p:cond delay="1560"/>
                                  </p:stCondLst>
                                  <p:childTnLst>
                                    <p:animMotion origin="layout" path="M -1.2715658E-06 0.046296295 L -1.2715658E-06 0 E" pathEditMode="relative" ptsTypes="">
                                      <p:cBhvr>
                                        <p:cTn id="49" dur="1000" fill="hold"/>
                                        <p:tgtEl>
                                          <p:spTgt spid="366"/>
                                        </p:tgtEl>
                                        <p:attrNameLst>
                                          <p:attrName>ppt_x</p:attrName>
                                          <p:attrName>ppt_y</p:attrName>
                                        </p:attrNameLst>
                                      </p:cBhvr>
                                    </p:animMotion>
                                  </p:childTnLst>
                                </p:cTn>
                              </p:par>
                              <p:par>
                                <p:cTn id="50" presetID="10" presetClass="entr" presetSubtype="0" accel="50000" decel="50000" fill="hold" nodeType="withEffect">
                                  <p:stCondLst>
                                    <p:cond delay="300"/>
                                  </p:stCondLst>
                                  <p:childTnLst>
                                    <p:set>
                                      <p:cBhvr>
                                        <p:cTn id="51" dur="1" fill="hold">
                                          <p:stCondLst>
                                            <p:cond delay="0"/>
                                          </p:stCondLst>
                                        </p:cTn>
                                        <p:tgtEl>
                                          <p:spTgt spid="374"/>
                                        </p:tgtEl>
                                        <p:attrNameLst>
                                          <p:attrName>style.visibility</p:attrName>
                                        </p:attrNameLst>
                                      </p:cBhvr>
                                      <p:to>
                                        <p:strVal val="visible"/>
                                      </p:to>
                                    </p:set>
                                    <p:animEffect transition="in" filter="fade">
                                      <p:cBhvr>
                                        <p:cTn id="52" dur="600"/>
                                        <p:tgtEl>
                                          <p:spTgt spid="374"/>
                                        </p:tgtEl>
                                      </p:cBhvr>
                                    </p:animEffect>
                                  </p:childTnLst>
                                </p:cTn>
                              </p:par>
                              <p:par>
                                <p:cTn id="53" presetID="64" presetClass="path" presetSubtype="0" accel="50000" decel="50000" fill="hold" nodeType="withEffect">
                                  <p:stCondLst>
                                    <p:cond delay="300"/>
                                  </p:stCondLst>
                                  <p:childTnLst>
                                    <p:animMotion origin="layout" path="M 0 0.04629225 L 0 -4.0478176E-06 E" pathEditMode="relative" ptsTypes="">
                                      <p:cBhvr>
                                        <p:cTn id="54" dur="600" fill="hold"/>
                                        <p:tgtEl>
                                          <p:spTgt spid="3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8" grpId="0"/>
      <p:bldP spid="320" grpId="0"/>
      <p:bldP spid="322" grpId="0"/>
      <p:bldP spid="326" grpId="0"/>
      <p:bldP spid="336" grpId="0"/>
      <p:bldP spid="346" grpId="0"/>
      <p:bldP spid="356" grpId="0"/>
      <p:bldP spid="366" grpId="0"/>
      <p:bldP spid="37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82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827" name="layoutShapeInnerChild5">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282E72EA-C5F0-4DB8-B6ED-E46A1AE6294C}">
                <asvg:svgBlip xmlns:asvg="http://schemas.microsoft.com/office/drawing/2016/SVG/main" xmlns:p14="http://schemas.microsoft.com/office/powerpoint/2010/main" xmlns:a14="http://schemas.microsoft.com/office/drawing/2010/main" xmlns:a16="http://schemas.microsoft.com/office/drawing/2014/main" xmlns="" r:embed="rId32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0" y="0"/>
            <a:ext cx="1009650" cy="1304925"/>
          </a:xfrm>
          <a:prstGeom prst="rect">
            <a:avLst/>
          </a:prstGeom>
        </p:spPr>
      </p:pic>
      <p:pic>
        <p:nvPicPr>
          <p:cNvPr id="8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25">
            <a:alphaModFix/>
          </a:blip>
          <a:stretch/>
        </p:blipFill>
        <p:spPr>
          <a:xfrm>
            <a:off x="11173863" y="685800"/>
            <a:ext cx="6429375" cy="8915400"/>
          </a:xfrm>
          <a:prstGeom prst="rect">
            <a:avLst/>
          </a:prstGeom>
          <a:effectLst>
            <a:outerShdw blurRad="285750" dir="2700000" algn="ctr" rotWithShape="0">
              <a:srgbClr val="000000">
                <a:alpha val="40000"/>
              </a:srgbClr>
            </a:outerShdw>
          </a:effectLst>
        </p:spPr>
      </p:pic>
      <p:pic>
        <p:nvPicPr>
          <p:cNvPr id="837" name="layoutShapeInnerChild4">
            <a:extLst>
              <a:ext uri="{FF2B5EF4-FFF2-40B4-BE49-F238E27FC236}">
                <a16:creationId xmlns:a16="http://schemas.microsoft.com/office/drawing/2014/main" id="{A8642F66-C0BB-4949-9A9C-024B120A5D52}"/>
              </a:ext>
            </a:extLst>
          </p:cNvPr>
          <p:cNvPicPr>
            <a:picLocks noChangeAspect="1"/>
          </p:cNvPicPr>
          <p:nvPr/>
        </p:nvPicPr>
        <p:blipFill rotWithShape="1">
          <a:blip r:embed="rId326">
            <a:alphaModFix/>
            <a:extLst>
              <a:ext uri="{5EA00644-136D-42FE-A656-2B0828DF0B4E}">
                <asvg:svgBlip xmlns:asvg="http://schemas.microsoft.com/office/drawing/2016/SVG/main" xmlns:p14="http://schemas.microsoft.com/office/powerpoint/2010/main" xmlns:a14="http://schemas.microsoft.com/office/drawing/2010/main" xmlns:a16="http://schemas.microsoft.com/office/drawing/2014/main" xmlns="" r:embed="rId33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2363450" y="7305675"/>
            <a:ext cx="4095750" cy="2981325"/>
          </a:xfrm>
          <a:prstGeom prst="rect">
            <a:avLst/>
          </a:prstGeom>
        </p:spPr>
      </p:pic>
      <p:sp>
        <p:nvSpPr>
          <p:cNvPr id="2" name="TextBox 1">
            <a:extLst>
              <a:ext uri="{FF2B5EF4-FFF2-40B4-BE49-F238E27FC236}">
                <a16:creationId xmlns:a16="http://schemas.microsoft.com/office/drawing/2014/main" id="{8F41DFDD-FF8B-04BE-7440-B1E4104DD317}"/>
              </a:ext>
            </a:extLst>
          </p:cNvPr>
          <p:cNvSpPr txBox="1"/>
          <p:nvPr/>
        </p:nvSpPr>
        <p:spPr>
          <a:xfrm>
            <a:off x="1009650" y="2496458"/>
            <a:ext cx="9824033" cy="1569660"/>
          </a:xfrm>
          <a:prstGeom prst="rect">
            <a:avLst/>
          </a:prstGeom>
          <a:noFill/>
        </p:spPr>
        <p:txBody>
          <a:bodyPr wrap="square" rtlCol="0">
            <a:spAutoFit/>
          </a:bodyPr>
          <a:lstStyle/>
          <a:p>
            <a:r>
              <a:rPr lang="en-US" sz="9600" dirty="0">
                <a:latin typeface="IBM Plex Serif SemiBold" panose="02060703050406000203" pitchFamily="18" charset="0"/>
              </a:rPr>
              <a:t>THANK YOU</a:t>
            </a:r>
          </a:p>
        </p:txBody>
      </p:sp>
    </p:spTree>
    <p:extLst>
      <p:ext uri="{BB962C8B-B14F-4D97-AF65-F5344CB8AC3E}">
        <p14:creationId xmlns:p14="http://schemas.microsoft.com/office/powerpoint/2010/main" val="3648047976"/>
      </p:ext>
    </p:extLst>
  </p:cSld>
  <p:clrMapOvr>
    <a:masterClrMapping/>
  </p:clrMapOvr>
  <mc:AlternateContent xmlns:mc="http://schemas.openxmlformats.org/markup-compatibility/2006" xmlns:p14="http://schemas.microsoft.com/office/powerpoint/2010/main">
    <mc:Choice Requires="p14">
      <p:transition spd="med" p14:dur="700" advClick="0">
        <p:push dir="u"/>
      </p:transition>
    </mc:Choice>
    <mc:Fallback xmlns="">
      <p:transition spd="med" advClick="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825"/>
                                        </p:tgtEl>
                                        <p:attrNameLst>
                                          <p:attrName>style.visibility</p:attrName>
                                        </p:attrNameLst>
                                      </p:cBhvr>
                                      <p:to>
                                        <p:strVal val="visible"/>
                                      </p:to>
                                    </p:set>
                                    <p:animEffect transition="in" filter="fade">
                                      <p:cBhvr>
                                        <p:cTn id="7" dur="1200"/>
                                        <p:tgtEl>
                                          <p:spTgt spid="825"/>
                                        </p:tgtEl>
                                      </p:cBhvr>
                                    </p:animEffect>
                                  </p:childTnLst>
                                </p:cTn>
                              </p:par>
                              <p:par>
                                <p:cTn id="8" presetID="64" presetClass="path" presetSubtype="0" accel="50000" decel="50000" fill="hold" nodeType="withEffect">
                                  <p:stCondLst>
                                    <p:cond delay="0"/>
                                  </p:stCondLst>
                                  <p:childTnLst>
                                    <p:animMotion origin="layout" path="M 0 0.074074075 L 0 0 E" pathEditMode="relative" ptsTypes="">
                                      <p:cBhvr>
                                        <p:cTn id="9" dur="1200" fill="hold"/>
                                        <p:tgtEl>
                                          <p:spTgt spid="825"/>
                                        </p:tgtEl>
                                        <p:attrNameLst>
                                          <p:attrName>ppt_x</p:attrName>
                                          <p:attrName>ppt_y</p:attrName>
                                        </p:attrNameLst>
                                      </p:cBhvr>
                                    </p:animMotion>
                                  </p:childTnLst>
                                </p:cTn>
                              </p:par>
                              <p:par>
                                <p:cTn id="10" presetID="10" presetClass="entr" presetSubtype="0" accel="50000" decel="50000" fill="hold" nodeType="withEffect">
                                  <p:stCondLst>
                                    <p:cond delay="0"/>
                                  </p:stCondLst>
                                  <p:childTnLst>
                                    <p:set>
                                      <p:cBhvr>
                                        <p:cTn id="11" dur="1" fill="hold">
                                          <p:stCondLst>
                                            <p:cond delay="0"/>
                                          </p:stCondLst>
                                        </p:cTn>
                                        <p:tgtEl>
                                          <p:spTgt spid="827"/>
                                        </p:tgtEl>
                                        <p:attrNameLst>
                                          <p:attrName>style.visibility</p:attrName>
                                        </p:attrNameLst>
                                      </p:cBhvr>
                                      <p:to>
                                        <p:strVal val="visible"/>
                                      </p:to>
                                    </p:set>
                                    <p:animEffect transition="in" filter="fade">
                                      <p:cBhvr>
                                        <p:cTn id="12" dur="1200"/>
                                        <p:tgtEl>
                                          <p:spTgt spid="827"/>
                                        </p:tgtEl>
                                      </p:cBhvr>
                                    </p:animEffect>
                                  </p:childTnLst>
                                </p:cTn>
                              </p:par>
                              <p:par>
                                <p:cTn id="13" presetID="64" presetClass="path" presetSubtype="0" accel="50000" decel="50000" fill="hold" nodeType="withEffect">
                                  <p:stCondLst>
                                    <p:cond delay="0"/>
                                  </p:stCondLst>
                                  <p:childTnLst>
                                    <p:animMotion origin="layout" path="M 0 0.074074075 L 0 0 E" pathEditMode="relative" ptsTypes="">
                                      <p:cBhvr>
                                        <p:cTn id="14" dur="1200" fill="hold"/>
                                        <p:tgtEl>
                                          <p:spTgt spid="827"/>
                                        </p:tgtEl>
                                        <p:attrNameLst>
                                          <p:attrName>ppt_x</p:attrName>
                                          <p:attrName>ppt_y</p:attrName>
                                        </p:attrNameLst>
                                      </p:cBhvr>
                                    </p:animMotion>
                                  </p:childTnLst>
                                </p:cTn>
                              </p:par>
                              <p:par>
                                <p:cTn id="15" presetID="10" presetClass="entr" presetSubtype="0" accel="50000" decel="50000" fill="hold" nodeType="withEffect">
                                  <p:stCondLst>
                                    <p:cond delay="700"/>
                                  </p:stCondLst>
                                  <p:childTnLst>
                                    <p:set>
                                      <p:cBhvr>
                                        <p:cTn id="16" dur="1" fill="hold">
                                          <p:stCondLst>
                                            <p:cond delay="0"/>
                                          </p:stCondLst>
                                        </p:cTn>
                                        <p:tgtEl>
                                          <p:spTgt spid="833"/>
                                        </p:tgtEl>
                                        <p:attrNameLst>
                                          <p:attrName>style.visibility</p:attrName>
                                        </p:attrNameLst>
                                      </p:cBhvr>
                                      <p:to>
                                        <p:strVal val="visible"/>
                                      </p:to>
                                    </p:set>
                                    <p:animEffect transition="in" filter="fade">
                                      <p:cBhvr>
                                        <p:cTn id="17" dur="600"/>
                                        <p:tgtEl>
                                          <p:spTgt spid="833"/>
                                        </p:tgtEl>
                                      </p:cBhvr>
                                    </p:animEffect>
                                  </p:childTnLst>
                                </p:cTn>
                              </p:par>
                              <p:par>
                                <p:cTn id="18" presetID="64" presetClass="path" presetSubtype="0" accel="50000" decel="50000" fill="hold" nodeType="withEffect">
                                  <p:stCondLst>
                                    <p:cond delay="700"/>
                                  </p:stCondLst>
                                  <p:childTnLst>
                                    <p:animMotion origin="layout" path="M 2.6067098E-06 0.046296295 L 2.6067098E-06 0 E" pathEditMode="relative" ptsTypes="">
                                      <p:cBhvr>
                                        <p:cTn id="19" dur="600" fill="hold"/>
                                        <p:tgtEl>
                                          <p:spTgt spid="833"/>
                                        </p:tgtEl>
                                        <p:attrNameLst>
                                          <p:attrName>ppt_x</p:attrName>
                                          <p:attrName>ppt_y</p:attrName>
                                        </p:attrNameLst>
                                      </p:cBhvr>
                                    </p:animMotion>
                                  </p:childTnLst>
                                </p:cTn>
                              </p:par>
                              <p:par>
                                <p:cTn id="20" presetID="10" presetClass="entr" presetSubtype="0" accel="50000" decel="50000" fill="hold" nodeType="withEffect">
                                  <p:stCondLst>
                                    <p:cond delay="0"/>
                                  </p:stCondLst>
                                  <p:childTnLst>
                                    <p:set>
                                      <p:cBhvr>
                                        <p:cTn id="21" dur="1" fill="hold">
                                          <p:stCondLst>
                                            <p:cond delay="0"/>
                                          </p:stCondLst>
                                        </p:cTn>
                                        <p:tgtEl>
                                          <p:spTgt spid="837"/>
                                        </p:tgtEl>
                                        <p:attrNameLst>
                                          <p:attrName>style.visibility</p:attrName>
                                        </p:attrNameLst>
                                      </p:cBhvr>
                                      <p:to>
                                        <p:strVal val="visible"/>
                                      </p:to>
                                    </p:set>
                                    <p:animEffect transition="in" filter="fade">
                                      <p:cBhvr>
                                        <p:cTn id="22" dur="1200"/>
                                        <p:tgtEl>
                                          <p:spTgt spid="837"/>
                                        </p:tgtEl>
                                      </p:cBhvr>
                                    </p:animEffect>
                                  </p:childTnLst>
                                </p:cTn>
                              </p:par>
                              <p:par>
                                <p:cTn id="23" presetID="64" presetClass="path" presetSubtype="0" accel="50000" decel="50000" fill="hold" nodeType="withEffect">
                                  <p:stCondLst>
                                    <p:cond delay="0"/>
                                  </p:stCondLst>
                                  <p:childTnLst>
                                    <p:animMotion origin="layout" path="M 0 0.074074075 L 0 0 E" pathEditMode="relative" ptsTypes="">
                                      <p:cBhvr>
                                        <p:cTn id="24" dur="1200" fill="hold"/>
                                        <p:tgtEl>
                                          <p:spTgt spid="83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 grpId="0"/>
      <p:bldP spid="827" grpId="0"/>
      <p:bldP spid="833" grpId="0"/>
      <p:bldP spid="837"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380</TotalTime>
  <Words>521</Words>
  <Application>Microsoft Office PowerPoint</Application>
  <PresentationFormat>Custom</PresentationFormat>
  <Paragraphs>63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 Light</vt:lpstr>
      <vt:lpstr>Times New Roman</vt:lpstr>
      <vt:lpstr>Noto Serif SemiBold</vt:lpstr>
      <vt:lpstr>Arial</vt:lpstr>
      <vt:lpstr>IBM Plex Serif SemiBold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Exporter Version: 2.0.26.0, docId: Console, orderId: Console</dc:title>
  <dc:creator>Presentations.AI Exporter</dc:creator>
  <cp:lastModifiedBy>Tejas Shettar</cp:lastModifiedBy>
  <cp:revision>5</cp:revision>
  <dcterms:created xsi:type="dcterms:W3CDTF">2024-12-04T05:07:27Z</dcterms:created>
  <dcterms:modified xsi:type="dcterms:W3CDTF">2025-03-27T03:52:13Z</dcterms:modified>
</cp:coreProperties>
</file>